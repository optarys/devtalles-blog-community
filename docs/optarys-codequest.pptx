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Raleway" charset="1" panose="00000000000000000000"/>
      <p:regular r:id="rId14"/>
    </p:embeddedFont>
    <p:embeddedFont>
      <p:font typeface="Raleway Bold" charset="1" panose="00000000000000000000"/>
      <p:regular r:id="rId15"/>
    </p:embeddedFont>
    <p:embeddedFont>
      <p:font typeface="Klein" charset="1" panose="020005030600000200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png" Type="http://schemas.openxmlformats.org/officeDocument/2006/relationships/image"/><Relationship Id="rId2" Target="../media/image10.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jpeg" Type="http://schemas.openxmlformats.org/officeDocument/2006/relationships/image"/><Relationship Id="rId4" Target="../media/image34.jpeg" Type="http://schemas.openxmlformats.org/officeDocument/2006/relationships/image"/><Relationship Id="rId5" Target="../media/image10.png" Type="http://schemas.openxmlformats.org/officeDocument/2006/relationships/image"/><Relationship Id="rId6" Target="../media/image3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0000"/>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5400000">
            <a:off x="-906335" y="2116628"/>
            <a:ext cx="4063746" cy="441324"/>
          </a:xfrm>
          <a:prstGeom prst="rect">
            <a:avLst/>
          </a:prstGeom>
        </p:spPr>
        <p:txBody>
          <a:bodyPr anchor="t" rtlCol="false" tIns="0" lIns="0" bIns="0" rIns="0">
            <a:spAutoFit/>
          </a:bodyPr>
          <a:lstStyle/>
          <a:p>
            <a:pPr algn="r">
              <a:lnSpc>
                <a:spcPts val="3500"/>
              </a:lnSpc>
              <a:spcBef>
                <a:spcPct val="0"/>
              </a:spcBef>
            </a:pPr>
            <a:r>
              <a:rPr lang="en-US" sz="2500" spc="297">
                <a:solidFill>
                  <a:srgbClr val="F1F5F9"/>
                </a:solidFill>
                <a:latin typeface="Raleway"/>
                <a:ea typeface="Raleway"/>
                <a:cs typeface="Raleway"/>
                <a:sym typeface="Raleway"/>
              </a:rPr>
              <a:t>CODE QUEST</a:t>
            </a:r>
            <a:r>
              <a:rPr lang="en-US" sz="2500" spc="297">
                <a:solidFill>
                  <a:srgbClr val="F1F5F9"/>
                </a:solidFill>
                <a:latin typeface="Raleway"/>
                <a:ea typeface="Raleway"/>
                <a:cs typeface="Raleway"/>
                <a:sym typeface="Raleway"/>
              </a:rPr>
              <a:t> 2025</a:t>
            </a:r>
          </a:p>
        </p:txBody>
      </p:sp>
      <p:sp>
        <p:nvSpPr>
          <p:cNvPr name="AutoShape 7" id="7"/>
          <p:cNvSpPr/>
          <p:nvPr/>
        </p:nvSpPr>
        <p:spPr>
          <a:xfrm flipV="true">
            <a:off x="1158875" y="3740410"/>
            <a:ext cx="0" cy="5517890"/>
          </a:xfrm>
          <a:prstGeom prst="line">
            <a:avLst/>
          </a:prstGeom>
          <a:ln cap="flat" w="38100">
            <a:solidFill>
              <a:srgbClr val="F1F5F9"/>
            </a:solidFill>
            <a:prstDash val="solid"/>
            <a:headEnd type="none" len="sm" w="sm"/>
            <a:tailEnd type="none" len="sm" w="sm"/>
          </a:ln>
        </p:spPr>
      </p:sp>
      <p:sp>
        <p:nvSpPr>
          <p:cNvPr name="Freeform 8" id="8"/>
          <p:cNvSpPr/>
          <p:nvPr/>
        </p:nvSpPr>
        <p:spPr>
          <a:xfrm flipH="false" flipV="false" rot="0">
            <a:off x="15543976" y="7437598"/>
            <a:ext cx="1715324" cy="1820702"/>
          </a:xfrm>
          <a:custGeom>
            <a:avLst/>
            <a:gdLst/>
            <a:ahLst/>
            <a:cxnLst/>
            <a:rect r="r" b="b" t="t" l="l"/>
            <a:pathLst>
              <a:path h="1820702" w="1715324">
                <a:moveTo>
                  <a:pt x="0" y="0"/>
                </a:moveTo>
                <a:lnTo>
                  <a:pt x="1715324" y="0"/>
                </a:lnTo>
                <a:lnTo>
                  <a:pt x="1715324" y="1820702"/>
                </a:lnTo>
                <a:lnTo>
                  <a:pt x="0" y="1820702"/>
                </a:lnTo>
                <a:lnTo>
                  <a:pt x="0" y="0"/>
                </a:lnTo>
                <a:close/>
              </a:path>
            </a:pathLst>
          </a:custGeom>
          <a:blipFill>
            <a:blip r:embed="rId3"/>
            <a:stretch>
              <a:fillRect l="0" t="0" r="0" b="0"/>
            </a:stretch>
          </a:blipFill>
        </p:spPr>
      </p:sp>
      <p:sp>
        <p:nvSpPr>
          <p:cNvPr name="Freeform 9" id="9"/>
          <p:cNvSpPr/>
          <p:nvPr/>
        </p:nvSpPr>
        <p:spPr>
          <a:xfrm flipH="false" flipV="false" rot="0">
            <a:off x="8602988" y="1028700"/>
            <a:ext cx="8450375" cy="1503463"/>
          </a:xfrm>
          <a:custGeom>
            <a:avLst/>
            <a:gdLst/>
            <a:ahLst/>
            <a:cxnLst/>
            <a:rect r="r" b="b" t="t" l="l"/>
            <a:pathLst>
              <a:path h="1503463" w="8450375">
                <a:moveTo>
                  <a:pt x="0" y="0"/>
                </a:moveTo>
                <a:lnTo>
                  <a:pt x="8450375" y="0"/>
                </a:lnTo>
                <a:lnTo>
                  <a:pt x="8450375" y="1503463"/>
                </a:lnTo>
                <a:lnTo>
                  <a:pt x="0" y="1503463"/>
                </a:lnTo>
                <a:lnTo>
                  <a:pt x="0" y="0"/>
                </a:lnTo>
                <a:close/>
              </a:path>
            </a:pathLst>
          </a:custGeom>
          <a:blipFill>
            <a:blip r:embed="rId4"/>
            <a:stretch>
              <a:fillRect l="0" t="0" r="0" b="0"/>
            </a:stretch>
          </a:blipFill>
        </p:spPr>
      </p:sp>
      <p:sp>
        <p:nvSpPr>
          <p:cNvPr name="TextBox 10" id="10"/>
          <p:cNvSpPr txBox="true"/>
          <p:nvPr/>
        </p:nvSpPr>
        <p:spPr>
          <a:xfrm rot="0">
            <a:off x="1522208" y="4876101"/>
            <a:ext cx="13973021" cy="3706016"/>
          </a:xfrm>
          <a:prstGeom prst="rect">
            <a:avLst/>
          </a:prstGeom>
        </p:spPr>
        <p:txBody>
          <a:bodyPr anchor="t" rtlCol="false" tIns="0" lIns="0" bIns="0" rIns="0">
            <a:spAutoFit/>
          </a:bodyPr>
          <a:lstStyle/>
          <a:p>
            <a:pPr algn="l">
              <a:lnSpc>
                <a:spcPts val="9575"/>
              </a:lnSpc>
            </a:pPr>
            <a:r>
              <a:rPr lang="en-US" sz="9672" b="true">
                <a:solidFill>
                  <a:srgbClr val="F1F5F9"/>
                </a:solidFill>
                <a:latin typeface="Raleway Bold"/>
                <a:ea typeface="Raleway Bold"/>
                <a:cs typeface="Raleway Bold"/>
                <a:sym typeface="Raleway Bold"/>
              </a:rPr>
              <a:t>Propuesta de Proyecto: Blog Comu</a:t>
            </a:r>
            <a:r>
              <a:rPr lang="en-US" b="true" sz="9672">
                <a:solidFill>
                  <a:srgbClr val="F1F5F9"/>
                </a:solidFill>
                <a:latin typeface="Raleway Bold"/>
                <a:ea typeface="Raleway Bold"/>
                <a:cs typeface="Raleway Bold"/>
                <a:sym typeface="Raleway Bold"/>
              </a:rPr>
              <a:t>nitario DevTalles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11827"/>
        </a:solidFill>
      </p:bgPr>
    </p:bg>
    <p:spTree>
      <p:nvGrpSpPr>
        <p:cNvPr id="1" name=""/>
        <p:cNvGrpSpPr/>
        <p:nvPr/>
      </p:nvGrpSpPr>
      <p:grpSpPr>
        <a:xfrm>
          <a:off x="0" y="0"/>
          <a:ext cx="0" cy="0"/>
          <a:chOff x="0" y="0"/>
          <a:chExt cx="0" cy="0"/>
        </a:xfrm>
      </p:grpSpPr>
      <p:sp>
        <p:nvSpPr>
          <p:cNvPr name="TextBox 2" id="2"/>
          <p:cNvSpPr txBox="true"/>
          <p:nvPr/>
        </p:nvSpPr>
        <p:spPr>
          <a:xfrm rot="-5400000">
            <a:off x="-391982" y="3156978"/>
            <a:ext cx="3035036" cy="441324"/>
          </a:xfrm>
          <a:prstGeom prst="rect">
            <a:avLst/>
          </a:prstGeom>
        </p:spPr>
        <p:txBody>
          <a:bodyPr anchor="t" rtlCol="false" tIns="0" lIns="0" bIns="0" rIns="0">
            <a:spAutoFit/>
          </a:bodyPr>
          <a:lstStyle/>
          <a:p>
            <a:pPr algn="r">
              <a:lnSpc>
                <a:spcPts val="3500"/>
              </a:lnSpc>
              <a:spcBef>
                <a:spcPct val="0"/>
              </a:spcBef>
            </a:pPr>
            <a:r>
              <a:rPr lang="en-US" sz="2500" spc="297">
                <a:solidFill>
                  <a:srgbClr val="F1F5F9"/>
                </a:solidFill>
                <a:latin typeface="Raleway"/>
                <a:ea typeface="Raleway"/>
                <a:cs typeface="Raleway"/>
                <a:sym typeface="Raleway"/>
              </a:rPr>
              <a:t>OPTARYS</a:t>
            </a:r>
          </a:p>
        </p:txBody>
      </p:sp>
      <p:sp>
        <p:nvSpPr>
          <p:cNvPr name="AutoShape 3" id="3"/>
          <p:cNvSpPr/>
          <p:nvPr/>
        </p:nvSpPr>
        <p:spPr>
          <a:xfrm flipV="true">
            <a:off x="1158875" y="3740410"/>
            <a:ext cx="0" cy="5517890"/>
          </a:xfrm>
          <a:prstGeom prst="line">
            <a:avLst/>
          </a:prstGeom>
          <a:ln cap="flat" w="38100">
            <a:solidFill>
              <a:srgbClr val="F1F5F9"/>
            </a:solidFill>
            <a:prstDash val="solid"/>
            <a:headEnd type="none" len="sm" w="sm"/>
            <a:tailEnd type="none" len="sm" w="sm"/>
          </a:ln>
        </p:spPr>
      </p:sp>
      <p:sp>
        <p:nvSpPr>
          <p:cNvPr name="Freeform 4" id="4"/>
          <p:cNvSpPr/>
          <p:nvPr/>
        </p:nvSpPr>
        <p:spPr>
          <a:xfrm flipH="false" flipV="false" rot="0">
            <a:off x="3808314" y="5685489"/>
            <a:ext cx="1585809" cy="1614055"/>
          </a:xfrm>
          <a:custGeom>
            <a:avLst/>
            <a:gdLst/>
            <a:ahLst/>
            <a:cxnLst/>
            <a:rect r="r" b="b" t="t" l="l"/>
            <a:pathLst>
              <a:path h="1614055" w="1585809">
                <a:moveTo>
                  <a:pt x="0" y="0"/>
                </a:moveTo>
                <a:lnTo>
                  <a:pt x="1585808" y="0"/>
                </a:lnTo>
                <a:lnTo>
                  <a:pt x="1585808" y="1614054"/>
                </a:lnTo>
                <a:lnTo>
                  <a:pt x="0" y="1614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023022" y="5331500"/>
            <a:ext cx="1728216" cy="2057400"/>
          </a:xfrm>
          <a:custGeom>
            <a:avLst/>
            <a:gdLst/>
            <a:ahLst/>
            <a:cxnLst/>
            <a:rect r="r" b="b" t="t" l="l"/>
            <a:pathLst>
              <a:path h="2057400" w="1728216">
                <a:moveTo>
                  <a:pt x="0" y="0"/>
                </a:moveTo>
                <a:lnTo>
                  <a:pt x="1728216" y="0"/>
                </a:lnTo>
                <a:lnTo>
                  <a:pt x="1728216"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084208" y="5331500"/>
            <a:ext cx="2421126" cy="1994402"/>
          </a:xfrm>
          <a:custGeom>
            <a:avLst/>
            <a:gdLst/>
            <a:ahLst/>
            <a:cxnLst/>
            <a:rect r="r" b="b" t="t" l="l"/>
            <a:pathLst>
              <a:path h="1994402" w="2421126">
                <a:moveTo>
                  <a:pt x="0" y="0"/>
                </a:moveTo>
                <a:lnTo>
                  <a:pt x="2421126" y="0"/>
                </a:lnTo>
                <a:lnTo>
                  <a:pt x="2421126" y="1994402"/>
                </a:lnTo>
                <a:lnTo>
                  <a:pt x="0" y="19944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6632888" y="353644"/>
            <a:ext cx="1252825" cy="1252825"/>
          </a:xfrm>
          <a:custGeom>
            <a:avLst/>
            <a:gdLst/>
            <a:ahLst/>
            <a:cxnLst/>
            <a:rect r="r" b="b" t="t" l="l"/>
            <a:pathLst>
              <a:path h="1252825" w="1252825">
                <a:moveTo>
                  <a:pt x="0" y="0"/>
                </a:moveTo>
                <a:lnTo>
                  <a:pt x="1252824" y="0"/>
                </a:lnTo>
                <a:lnTo>
                  <a:pt x="1252824" y="1252824"/>
                </a:lnTo>
                <a:lnTo>
                  <a:pt x="0" y="1252824"/>
                </a:lnTo>
                <a:lnTo>
                  <a:pt x="0" y="0"/>
                </a:lnTo>
                <a:close/>
              </a:path>
            </a:pathLst>
          </a:custGeom>
          <a:blipFill>
            <a:blip r:embed="rId8"/>
            <a:stretch>
              <a:fillRect l="0" t="0" r="0" b="0"/>
            </a:stretch>
          </a:blipFill>
        </p:spPr>
      </p:sp>
      <p:sp>
        <p:nvSpPr>
          <p:cNvPr name="Freeform 8" id="8"/>
          <p:cNvSpPr/>
          <p:nvPr/>
        </p:nvSpPr>
        <p:spPr>
          <a:xfrm flipH="false" flipV="false" rot="0">
            <a:off x="2621415" y="1124624"/>
            <a:ext cx="1531588" cy="1710684"/>
          </a:xfrm>
          <a:custGeom>
            <a:avLst/>
            <a:gdLst/>
            <a:ahLst/>
            <a:cxnLst/>
            <a:rect r="r" b="b" t="t" l="l"/>
            <a:pathLst>
              <a:path h="1710684" w="1531588">
                <a:moveTo>
                  <a:pt x="0" y="0"/>
                </a:moveTo>
                <a:lnTo>
                  <a:pt x="1531588" y="0"/>
                </a:lnTo>
                <a:lnTo>
                  <a:pt x="1531588" y="1710684"/>
                </a:lnTo>
                <a:lnTo>
                  <a:pt x="0" y="1710684"/>
                </a:lnTo>
                <a:lnTo>
                  <a:pt x="0" y="0"/>
                </a:lnTo>
                <a:close/>
              </a:path>
            </a:pathLst>
          </a:custGeom>
          <a:blipFill>
            <a:blip r:embed="rId9"/>
            <a:stretch>
              <a:fillRect l="0" t="0" r="0" b="0"/>
            </a:stretch>
          </a:blipFill>
        </p:spPr>
      </p:sp>
      <p:sp>
        <p:nvSpPr>
          <p:cNvPr name="TextBox 9" id="9"/>
          <p:cNvSpPr txBox="true"/>
          <p:nvPr/>
        </p:nvSpPr>
        <p:spPr>
          <a:xfrm rot="0">
            <a:off x="4443032" y="1642778"/>
            <a:ext cx="9085564" cy="1192530"/>
          </a:xfrm>
          <a:prstGeom prst="rect">
            <a:avLst/>
          </a:prstGeom>
        </p:spPr>
        <p:txBody>
          <a:bodyPr anchor="t" rtlCol="false" tIns="0" lIns="0" bIns="0" rIns="0">
            <a:spAutoFit/>
          </a:bodyPr>
          <a:lstStyle/>
          <a:p>
            <a:pPr algn="l" marL="0" indent="0" lvl="1">
              <a:lnSpc>
                <a:spcPts val="8910"/>
              </a:lnSpc>
              <a:spcBef>
                <a:spcPct val="0"/>
              </a:spcBef>
            </a:pPr>
            <a:r>
              <a:rPr lang="en-US" b="true" sz="9000">
                <a:solidFill>
                  <a:srgbClr val="F1F5F9"/>
                </a:solidFill>
                <a:latin typeface="Raleway Bold"/>
                <a:ea typeface="Raleway Bold"/>
                <a:cs typeface="Raleway Bold"/>
                <a:sym typeface="Raleway Bold"/>
              </a:rPr>
              <a:t>Nues</a:t>
            </a:r>
            <a:r>
              <a:rPr lang="en-US" b="true" sz="9000" strike="noStrike" u="none">
                <a:solidFill>
                  <a:srgbClr val="F1F5F9"/>
                </a:solidFill>
                <a:latin typeface="Raleway Bold"/>
                <a:ea typeface="Raleway Bold"/>
                <a:cs typeface="Raleway Bold"/>
                <a:sym typeface="Raleway Bold"/>
              </a:rPr>
              <a:t>tra Misión</a:t>
            </a:r>
          </a:p>
        </p:txBody>
      </p:sp>
      <p:sp>
        <p:nvSpPr>
          <p:cNvPr name="TextBox 10" id="10"/>
          <p:cNvSpPr txBox="true"/>
          <p:nvPr/>
        </p:nvSpPr>
        <p:spPr>
          <a:xfrm rot="0">
            <a:off x="4344348" y="3522710"/>
            <a:ext cx="9085564" cy="711200"/>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1F5F9"/>
                </a:solidFill>
                <a:latin typeface="Raleway"/>
                <a:ea typeface="Raleway"/>
                <a:cs typeface="Raleway"/>
                <a:sym typeface="Raleway"/>
              </a:rPr>
              <a:t>De</a:t>
            </a:r>
            <a:r>
              <a:rPr lang="en-US" sz="2000" strike="noStrike" u="none">
                <a:solidFill>
                  <a:srgbClr val="F1F5F9"/>
                </a:solidFill>
                <a:latin typeface="Raleway"/>
                <a:ea typeface="Raleway"/>
                <a:cs typeface="Raleway"/>
                <a:sym typeface="Raleway"/>
              </a:rPr>
              <a:t>sarrollar un blog para la comunidad de DevTalles que sea versátil, escalable y se convierta en el punto de encuentro para el aprendizaje.</a:t>
            </a:r>
          </a:p>
        </p:txBody>
      </p:sp>
      <p:sp>
        <p:nvSpPr>
          <p:cNvPr name="TextBox 11" id="11"/>
          <p:cNvSpPr txBox="true"/>
          <p:nvPr/>
        </p:nvSpPr>
        <p:spPr>
          <a:xfrm rot="0">
            <a:off x="3115827" y="7853136"/>
            <a:ext cx="3279696" cy="486537"/>
          </a:xfrm>
          <a:prstGeom prst="rect">
            <a:avLst/>
          </a:prstGeom>
        </p:spPr>
        <p:txBody>
          <a:bodyPr anchor="t" rtlCol="false" tIns="0" lIns="0" bIns="0" rIns="0">
            <a:spAutoFit/>
          </a:bodyPr>
          <a:lstStyle/>
          <a:p>
            <a:pPr algn="l" marL="0" indent="0" lvl="1">
              <a:lnSpc>
                <a:spcPts val="3564"/>
              </a:lnSpc>
              <a:spcBef>
                <a:spcPct val="0"/>
              </a:spcBef>
            </a:pPr>
            <a:r>
              <a:rPr lang="en-US" b="true" sz="3600">
                <a:solidFill>
                  <a:srgbClr val="F1F5F9"/>
                </a:solidFill>
                <a:latin typeface="Raleway Bold"/>
                <a:ea typeface="Raleway Bold"/>
                <a:cs typeface="Raleway Bold"/>
                <a:sym typeface="Raleway Bold"/>
              </a:rPr>
              <a:t>CRECIMIENTO</a:t>
            </a:r>
          </a:p>
        </p:txBody>
      </p:sp>
      <p:sp>
        <p:nvSpPr>
          <p:cNvPr name="TextBox 12" id="12"/>
          <p:cNvSpPr txBox="true"/>
          <p:nvPr/>
        </p:nvSpPr>
        <p:spPr>
          <a:xfrm rot="0">
            <a:off x="11888748" y="7853136"/>
            <a:ext cx="3279696" cy="486537"/>
          </a:xfrm>
          <a:prstGeom prst="rect">
            <a:avLst/>
          </a:prstGeom>
        </p:spPr>
        <p:txBody>
          <a:bodyPr anchor="t" rtlCol="false" tIns="0" lIns="0" bIns="0" rIns="0">
            <a:spAutoFit/>
          </a:bodyPr>
          <a:lstStyle/>
          <a:p>
            <a:pPr algn="l" marL="0" indent="0" lvl="1">
              <a:lnSpc>
                <a:spcPts val="3564"/>
              </a:lnSpc>
              <a:spcBef>
                <a:spcPct val="0"/>
              </a:spcBef>
            </a:pPr>
            <a:r>
              <a:rPr lang="en-US" b="true" sz="3600">
                <a:solidFill>
                  <a:srgbClr val="F1F5F9"/>
                </a:solidFill>
                <a:latin typeface="Raleway Bold"/>
                <a:ea typeface="Raleway Bold"/>
                <a:cs typeface="Raleway Bold"/>
                <a:sym typeface="Raleway Bold"/>
              </a:rPr>
              <a:t> COMUNIDAD</a:t>
            </a:r>
          </a:p>
        </p:txBody>
      </p:sp>
      <p:sp>
        <p:nvSpPr>
          <p:cNvPr name="TextBox 13" id="13"/>
          <p:cNvSpPr txBox="true"/>
          <p:nvPr/>
        </p:nvSpPr>
        <p:spPr>
          <a:xfrm rot="0">
            <a:off x="7504152" y="7853136"/>
            <a:ext cx="3279696" cy="486537"/>
          </a:xfrm>
          <a:prstGeom prst="rect">
            <a:avLst/>
          </a:prstGeom>
        </p:spPr>
        <p:txBody>
          <a:bodyPr anchor="t" rtlCol="false" tIns="0" lIns="0" bIns="0" rIns="0">
            <a:spAutoFit/>
          </a:bodyPr>
          <a:lstStyle/>
          <a:p>
            <a:pPr algn="l" marL="0" indent="0" lvl="1">
              <a:lnSpc>
                <a:spcPts val="3564"/>
              </a:lnSpc>
              <a:spcBef>
                <a:spcPct val="0"/>
              </a:spcBef>
            </a:pPr>
            <a:r>
              <a:rPr lang="en-US" b="true" sz="3600">
                <a:solidFill>
                  <a:srgbClr val="F1F5F9"/>
                </a:solidFill>
                <a:latin typeface="Raleway Bold"/>
                <a:ea typeface="Raleway Bold"/>
                <a:cs typeface="Raleway Bold"/>
                <a:sym typeface="Raleway Bold"/>
              </a:rPr>
              <a:t>INNOVACIÓN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1827"/>
        </a:solidFill>
      </p:bgPr>
    </p:bg>
    <p:spTree>
      <p:nvGrpSpPr>
        <p:cNvPr id="1" name=""/>
        <p:cNvGrpSpPr/>
        <p:nvPr/>
      </p:nvGrpSpPr>
      <p:grpSpPr>
        <a:xfrm>
          <a:off x="0" y="0"/>
          <a:ext cx="0" cy="0"/>
          <a:chOff x="0" y="0"/>
          <a:chExt cx="0" cy="0"/>
        </a:xfrm>
      </p:grpSpPr>
      <p:sp>
        <p:nvSpPr>
          <p:cNvPr name="TextBox 2" id="2"/>
          <p:cNvSpPr txBox="true"/>
          <p:nvPr/>
        </p:nvSpPr>
        <p:spPr>
          <a:xfrm rot="-5400000">
            <a:off x="-391982" y="3054448"/>
            <a:ext cx="3035036" cy="441324"/>
          </a:xfrm>
          <a:prstGeom prst="rect">
            <a:avLst/>
          </a:prstGeom>
        </p:spPr>
        <p:txBody>
          <a:bodyPr anchor="t" rtlCol="false" tIns="0" lIns="0" bIns="0" rIns="0">
            <a:spAutoFit/>
          </a:bodyPr>
          <a:lstStyle/>
          <a:p>
            <a:pPr algn="r">
              <a:lnSpc>
                <a:spcPts val="3500"/>
              </a:lnSpc>
              <a:spcBef>
                <a:spcPct val="0"/>
              </a:spcBef>
            </a:pPr>
            <a:r>
              <a:rPr lang="en-US" sz="2500" spc="297">
                <a:solidFill>
                  <a:srgbClr val="F1F5F9"/>
                </a:solidFill>
                <a:latin typeface="Klein"/>
                <a:ea typeface="Klein"/>
                <a:cs typeface="Klein"/>
                <a:sym typeface="Klein"/>
              </a:rPr>
              <a:t>OPTARYS</a:t>
            </a:r>
          </a:p>
        </p:txBody>
      </p:sp>
      <p:sp>
        <p:nvSpPr>
          <p:cNvPr name="AutoShape 3" id="3"/>
          <p:cNvSpPr/>
          <p:nvPr/>
        </p:nvSpPr>
        <p:spPr>
          <a:xfrm flipV="true">
            <a:off x="1158875" y="3740410"/>
            <a:ext cx="0" cy="5517890"/>
          </a:xfrm>
          <a:prstGeom prst="line">
            <a:avLst/>
          </a:prstGeom>
          <a:ln cap="flat" w="38100">
            <a:solidFill>
              <a:srgbClr val="F1F5F9"/>
            </a:solidFill>
            <a:prstDash val="solid"/>
            <a:headEnd type="none" len="sm" w="sm"/>
            <a:tailEnd type="none" len="sm" w="sm"/>
          </a:ln>
        </p:spPr>
      </p:sp>
      <p:grpSp>
        <p:nvGrpSpPr>
          <p:cNvPr name="Group 4" id="4"/>
          <p:cNvGrpSpPr/>
          <p:nvPr/>
        </p:nvGrpSpPr>
        <p:grpSpPr>
          <a:xfrm rot="0">
            <a:off x="3736421" y="4356890"/>
            <a:ext cx="2466259" cy="2421233"/>
            <a:chOff x="0" y="0"/>
            <a:chExt cx="649550" cy="637691"/>
          </a:xfrm>
        </p:grpSpPr>
        <p:sp>
          <p:nvSpPr>
            <p:cNvPr name="Freeform 5" id="5"/>
            <p:cNvSpPr/>
            <p:nvPr/>
          </p:nvSpPr>
          <p:spPr>
            <a:xfrm flipH="false" flipV="false" rot="0">
              <a:off x="0" y="0"/>
              <a:ext cx="649550" cy="637691"/>
            </a:xfrm>
            <a:custGeom>
              <a:avLst/>
              <a:gdLst/>
              <a:ahLst/>
              <a:cxnLst/>
              <a:rect r="r" b="b" t="t" l="l"/>
              <a:pathLst>
                <a:path h="637691" w="649550">
                  <a:moveTo>
                    <a:pt x="0" y="0"/>
                  </a:moveTo>
                  <a:lnTo>
                    <a:pt x="649550" y="0"/>
                  </a:lnTo>
                  <a:lnTo>
                    <a:pt x="649550" y="637691"/>
                  </a:lnTo>
                  <a:lnTo>
                    <a:pt x="0" y="637691"/>
                  </a:lnTo>
                  <a:close/>
                </a:path>
              </a:pathLst>
            </a:custGeom>
            <a:solidFill>
              <a:srgbClr val="C397F6"/>
            </a:solidFill>
          </p:spPr>
        </p:sp>
        <p:sp>
          <p:nvSpPr>
            <p:cNvPr name="TextBox 6" id="6"/>
            <p:cNvSpPr txBox="true"/>
            <p:nvPr/>
          </p:nvSpPr>
          <p:spPr>
            <a:xfrm>
              <a:off x="0" y="-66675"/>
              <a:ext cx="649550" cy="704366"/>
            </a:xfrm>
            <a:prstGeom prst="rect">
              <a:avLst/>
            </a:prstGeom>
          </p:spPr>
          <p:txBody>
            <a:bodyPr anchor="ctr" rtlCol="false" tIns="50800" lIns="50800" bIns="50800" rIns="50800"/>
            <a:lstStyle/>
            <a:p>
              <a:pPr algn="ctr">
                <a:lnSpc>
                  <a:spcPts val="3500"/>
                </a:lnSpc>
              </a:pPr>
            </a:p>
          </p:txBody>
        </p:sp>
      </p:grpSp>
      <p:grpSp>
        <p:nvGrpSpPr>
          <p:cNvPr name="Group 7" id="7"/>
          <p:cNvGrpSpPr/>
          <p:nvPr/>
        </p:nvGrpSpPr>
        <p:grpSpPr>
          <a:xfrm rot="0">
            <a:off x="6693112" y="4356890"/>
            <a:ext cx="2466259" cy="2421233"/>
            <a:chOff x="0" y="0"/>
            <a:chExt cx="649550" cy="637691"/>
          </a:xfrm>
        </p:grpSpPr>
        <p:sp>
          <p:nvSpPr>
            <p:cNvPr name="Freeform 8" id="8"/>
            <p:cNvSpPr/>
            <p:nvPr/>
          </p:nvSpPr>
          <p:spPr>
            <a:xfrm flipH="false" flipV="false" rot="0">
              <a:off x="0" y="0"/>
              <a:ext cx="649550" cy="637691"/>
            </a:xfrm>
            <a:custGeom>
              <a:avLst/>
              <a:gdLst/>
              <a:ahLst/>
              <a:cxnLst/>
              <a:rect r="r" b="b" t="t" l="l"/>
              <a:pathLst>
                <a:path h="637691" w="649550">
                  <a:moveTo>
                    <a:pt x="0" y="0"/>
                  </a:moveTo>
                  <a:lnTo>
                    <a:pt x="649550" y="0"/>
                  </a:lnTo>
                  <a:lnTo>
                    <a:pt x="649550" y="637691"/>
                  </a:lnTo>
                  <a:lnTo>
                    <a:pt x="0" y="637691"/>
                  </a:lnTo>
                  <a:close/>
                </a:path>
              </a:pathLst>
            </a:custGeom>
            <a:solidFill>
              <a:srgbClr val="4C32B4"/>
            </a:solidFill>
          </p:spPr>
        </p:sp>
        <p:sp>
          <p:nvSpPr>
            <p:cNvPr name="TextBox 9" id="9"/>
            <p:cNvSpPr txBox="true"/>
            <p:nvPr/>
          </p:nvSpPr>
          <p:spPr>
            <a:xfrm>
              <a:off x="0" y="-66675"/>
              <a:ext cx="649550" cy="704366"/>
            </a:xfrm>
            <a:prstGeom prst="rect">
              <a:avLst/>
            </a:prstGeom>
          </p:spPr>
          <p:txBody>
            <a:bodyPr anchor="ctr" rtlCol="false" tIns="50800" lIns="50800" bIns="50800" rIns="50800"/>
            <a:lstStyle/>
            <a:p>
              <a:pPr algn="ctr">
                <a:lnSpc>
                  <a:spcPts val="3500"/>
                </a:lnSpc>
              </a:pPr>
            </a:p>
          </p:txBody>
        </p:sp>
      </p:grpSp>
      <p:grpSp>
        <p:nvGrpSpPr>
          <p:cNvPr name="Group 10" id="10"/>
          <p:cNvGrpSpPr/>
          <p:nvPr/>
        </p:nvGrpSpPr>
        <p:grpSpPr>
          <a:xfrm rot="0">
            <a:off x="9645146" y="4356890"/>
            <a:ext cx="2466259" cy="2421233"/>
            <a:chOff x="0" y="0"/>
            <a:chExt cx="649550" cy="637691"/>
          </a:xfrm>
        </p:grpSpPr>
        <p:sp>
          <p:nvSpPr>
            <p:cNvPr name="Freeform 11" id="11"/>
            <p:cNvSpPr/>
            <p:nvPr/>
          </p:nvSpPr>
          <p:spPr>
            <a:xfrm flipH="false" flipV="false" rot="0">
              <a:off x="0" y="0"/>
              <a:ext cx="649550" cy="637691"/>
            </a:xfrm>
            <a:custGeom>
              <a:avLst/>
              <a:gdLst/>
              <a:ahLst/>
              <a:cxnLst/>
              <a:rect r="r" b="b" t="t" l="l"/>
              <a:pathLst>
                <a:path h="637691" w="649550">
                  <a:moveTo>
                    <a:pt x="0" y="0"/>
                  </a:moveTo>
                  <a:lnTo>
                    <a:pt x="649550" y="0"/>
                  </a:lnTo>
                  <a:lnTo>
                    <a:pt x="649550" y="637691"/>
                  </a:lnTo>
                  <a:lnTo>
                    <a:pt x="0" y="637691"/>
                  </a:lnTo>
                  <a:close/>
                </a:path>
              </a:pathLst>
            </a:custGeom>
            <a:solidFill>
              <a:srgbClr val="F1F5F9"/>
            </a:solidFill>
          </p:spPr>
        </p:sp>
        <p:sp>
          <p:nvSpPr>
            <p:cNvPr name="TextBox 12" id="12"/>
            <p:cNvSpPr txBox="true"/>
            <p:nvPr/>
          </p:nvSpPr>
          <p:spPr>
            <a:xfrm>
              <a:off x="0" y="-66675"/>
              <a:ext cx="649550" cy="704366"/>
            </a:xfrm>
            <a:prstGeom prst="rect">
              <a:avLst/>
            </a:prstGeom>
          </p:spPr>
          <p:txBody>
            <a:bodyPr anchor="ctr" rtlCol="false" tIns="50800" lIns="50800" bIns="50800" rIns="50800"/>
            <a:lstStyle/>
            <a:p>
              <a:pPr algn="ctr">
                <a:lnSpc>
                  <a:spcPts val="3500"/>
                </a:lnSpc>
              </a:pPr>
            </a:p>
          </p:txBody>
        </p:sp>
      </p:grpSp>
      <p:grpSp>
        <p:nvGrpSpPr>
          <p:cNvPr name="Group 13" id="13"/>
          <p:cNvGrpSpPr/>
          <p:nvPr/>
        </p:nvGrpSpPr>
        <p:grpSpPr>
          <a:xfrm rot="0">
            <a:off x="12597180" y="4356890"/>
            <a:ext cx="2466259" cy="2421233"/>
            <a:chOff x="0" y="0"/>
            <a:chExt cx="649550" cy="637691"/>
          </a:xfrm>
        </p:grpSpPr>
        <p:sp>
          <p:nvSpPr>
            <p:cNvPr name="Freeform 14" id="14"/>
            <p:cNvSpPr/>
            <p:nvPr/>
          </p:nvSpPr>
          <p:spPr>
            <a:xfrm flipH="false" flipV="false" rot="0">
              <a:off x="0" y="0"/>
              <a:ext cx="649550" cy="637691"/>
            </a:xfrm>
            <a:custGeom>
              <a:avLst/>
              <a:gdLst/>
              <a:ahLst/>
              <a:cxnLst/>
              <a:rect r="r" b="b" t="t" l="l"/>
              <a:pathLst>
                <a:path h="637691" w="649550">
                  <a:moveTo>
                    <a:pt x="0" y="0"/>
                  </a:moveTo>
                  <a:lnTo>
                    <a:pt x="649550" y="0"/>
                  </a:lnTo>
                  <a:lnTo>
                    <a:pt x="649550" y="637691"/>
                  </a:lnTo>
                  <a:lnTo>
                    <a:pt x="0" y="637691"/>
                  </a:lnTo>
                  <a:close/>
                </a:path>
              </a:pathLst>
            </a:custGeom>
            <a:solidFill>
              <a:srgbClr val="0F0F10"/>
            </a:solidFill>
          </p:spPr>
        </p:sp>
        <p:sp>
          <p:nvSpPr>
            <p:cNvPr name="TextBox 15" id="15"/>
            <p:cNvSpPr txBox="true"/>
            <p:nvPr/>
          </p:nvSpPr>
          <p:spPr>
            <a:xfrm>
              <a:off x="0" y="-66675"/>
              <a:ext cx="649550" cy="704366"/>
            </a:xfrm>
            <a:prstGeom prst="rect">
              <a:avLst/>
            </a:prstGeom>
          </p:spPr>
          <p:txBody>
            <a:bodyPr anchor="ctr" rtlCol="false" tIns="50800" lIns="50800" bIns="50800" rIns="50800"/>
            <a:lstStyle/>
            <a:p>
              <a:pPr algn="ctr">
                <a:lnSpc>
                  <a:spcPts val="3500"/>
                </a:lnSpc>
              </a:pPr>
            </a:p>
          </p:txBody>
        </p:sp>
      </p:grpSp>
      <p:sp>
        <p:nvSpPr>
          <p:cNvPr name="Freeform 16" id="16"/>
          <p:cNvSpPr/>
          <p:nvPr/>
        </p:nvSpPr>
        <p:spPr>
          <a:xfrm flipH="false" flipV="false" rot="0">
            <a:off x="16632888" y="353644"/>
            <a:ext cx="1252825" cy="1252825"/>
          </a:xfrm>
          <a:custGeom>
            <a:avLst/>
            <a:gdLst/>
            <a:ahLst/>
            <a:cxnLst/>
            <a:rect r="r" b="b" t="t" l="l"/>
            <a:pathLst>
              <a:path h="1252825" w="1252825">
                <a:moveTo>
                  <a:pt x="0" y="0"/>
                </a:moveTo>
                <a:lnTo>
                  <a:pt x="1252824" y="0"/>
                </a:lnTo>
                <a:lnTo>
                  <a:pt x="1252824" y="1252824"/>
                </a:lnTo>
                <a:lnTo>
                  <a:pt x="0" y="1252824"/>
                </a:lnTo>
                <a:lnTo>
                  <a:pt x="0" y="0"/>
                </a:lnTo>
                <a:close/>
              </a:path>
            </a:pathLst>
          </a:custGeom>
          <a:blipFill>
            <a:blip r:embed="rId2"/>
            <a:stretch>
              <a:fillRect l="0" t="0" r="0" b="0"/>
            </a:stretch>
          </a:blipFill>
        </p:spPr>
      </p:sp>
      <p:sp>
        <p:nvSpPr>
          <p:cNvPr name="Freeform 17" id="17"/>
          <p:cNvSpPr/>
          <p:nvPr/>
        </p:nvSpPr>
        <p:spPr>
          <a:xfrm flipH="false" flipV="false" rot="0">
            <a:off x="4571149" y="4792629"/>
            <a:ext cx="968597" cy="1549755"/>
          </a:xfrm>
          <a:custGeom>
            <a:avLst/>
            <a:gdLst/>
            <a:ahLst/>
            <a:cxnLst/>
            <a:rect r="r" b="b" t="t" l="l"/>
            <a:pathLst>
              <a:path h="1549755" w="968597">
                <a:moveTo>
                  <a:pt x="0" y="0"/>
                </a:moveTo>
                <a:lnTo>
                  <a:pt x="968597" y="0"/>
                </a:lnTo>
                <a:lnTo>
                  <a:pt x="968597" y="1549755"/>
                </a:lnTo>
                <a:lnTo>
                  <a:pt x="0" y="15497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false" flipV="false" rot="0">
            <a:off x="7004297" y="4576721"/>
            <a:ext cx="1839232" cy="1765663"/>
          </a:xfrm>
          <a:custGeom>
            <a:avLst/>
            <a:gdLst/>
            <a:ahLst/>
            <a:cxnLst/>
            <a:rect r="r" b="b" t="t" l="l"/>
            <a:pathLst>
              <a:path h="1765663" w="1839232">
                <a:moveTo>
                  <a:pt x="0" y="0"/>
                </a:moveTo>
                <a:lnTo>
                  <a:pt x="1839232" y="0"/>
                </a:lnTo>
                <a:lnTo>
                  <a:pt x="1839232" y="1765663"/>
                </a:lnTo>
                <a:lnTo>
                  <a:pt x="0" y="17656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0">
            <a:off x="10181164" y="4971575"/>
            <a:ext cx="1394223" cy="975956"/>
          </a:xfrm>
          <a:custGeom>
            <a:avLst/>
            <a:gdLst/>
            <a:ahLst/>
            <a:cxnLst/>
            <a:rect r="r" b="b" t="t" l="l"/>
            <a:pathLst>
              <a:path h="975956" w="1394223">
                <a:moveTo>
                  <a:pt x="0" y="0"/>
                </a:moveTo>
                <a:lnTo>
                  <a:pt x="1394223" y="0"/>
                </a:lnTo>
                <a:lnTo>
                  <a:pt x="1394223" y="975956"/>
                </a:lnTo>
                <a:lnTo>
                  <a:pt x="0" y="9759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0">
            <a:off x="13263930" y="4664232"/>
            <a:ext cx="1200934" cy="1590641"/>
          </a:xfrm>
          <a:custGeom>
            <a:avLst/>
            <a:gdLst/>
            <a:ahLst/>
            <a:cxnLst/>
            <a:rect r="r" b="b" t="t" l="l"/>
            <a:pathLst>
              <a:path h="1590641" w="1200934">
                <a:moveTo>
                  <a:pt x="0" y="0"/>
                </a:moveTo>
                <a:lnTo>
                  <a:pt x="1200934" y="0"/>
                </a:lnTo>
                <a:lnTo>
                  <a:pt x="1200934" y="1590641"/>
                </a:lnTo>
                <a:lnTo>
                  <a:pt x="0" y="15906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0">
            <a:off x="3443594" y="1962455"/>
            <a:ext cx="1807861" cy="2064200"/>
          </a:xfrm>
          <a:custGeom>
            <a:avLst/>
            <a:gdLst/>
            <a:ahLst/>
            <a:cxnLst/>
            <a:rect r="r" b="b" t="t" l="l"/>
            <a:pathLst>
              <a:path h="2064200" w="1807861">
                <a:moveTo>
                  <a:pt x="0" y="0"/>
                </a:moveTo>
                <a:lnTo>
                  <a:pt x="1807861" y="0"/>
                </a:lnTo>
                <a:lnTo>
                  <a:pt x="1807861" y="2064200"/>
                </a:lnTo>
                <a:lnTo>
                  <a:pt x="0" y="2064200"/>
                </a:lnTo>
                <a:lnTo>
                  <a:pt x="0" y="0"/>
                </a:lnTo>
                <a:close/>
              </a:path>
            </a:pathLst>
          </a:custGeom>
          <a:blipFill>
            <a:blip r:embed="rId11"/>
            <a:stretch>
              <a:fillRect l="0" t="0" r="0" b="0"/>
            </a:stretch>
          </a:blipFill>
        </p:spPr>
      </p:sp>
      <p:sp>
        <p:nvSpPr>
          <p:cNvPr name="TextBox 22" id="22"/>
          <p:cNvSpPr txBox="true"/>
          <p:nvPr/>
        </p:nvSpPr>
        <p:spPr>
          <a:xfrm rot="0">
            <a:off x="5051062" y="2095805"/>
            <a:ext cx="8185875" cy="1785524"/>
          </a:xfrm>
          <a:prstGeom prst="rect">
            <a:avLst/>
          </a:prstGeom>
        </p:spPr>
        <p:txBody>
          <a:bodyPr anchor="t" rtlCol="false" tIns="0" lIns="0" bIns="0" rIns="0">
            <a:spAutoFit/>
          </a:bodyPr>
          <a:lstStyle/>
          <a:p>
            <a:pPr algn="ctr" marL="0" indent="0" lvl="1">
              <a:lnSpc>
                <a:spcPts val="6879"/>
              </a:lnSpc>
              <a:spcBef>
                <a:spcPct val="0"/>
              </a:spcBef>
            </a:pPr>
            <a:r>
              <a:rPr lang="en-US" b="true" sz="6948">
                <a:solidFill>
                  <a:srgbClr val="F1F5F9"/>
                </a:solidFill>
                <a:latin typeface="Raleway Bold"/>
                <a:ea typeface="Raleway Bold"/>
                <a:cs typeface="Raleway Bold"/>
                <a:sym typeface="Raleway Bold"/>
              </a:rPr>
              <a:t>¿Qué Bus</a:t>
            </a:r>
            <a:r>
              <a:rPr lang="en-US" b="true" sz="6948">
                <a:solidFill>
                  <a:srgbClr val="F1F5F9"/>
                </a:solidFill>
                <a:latin typeface="Raleway Bold"/>
                <a:ea typeface="Raleway Bold"/>
                <a:cs typeface="Raleway Bold"/>
                <a:sym typeface="Raleway Bold"/>
              </a:rPr>
              <a:t>camos Lograr?</a:t>
            </a:r>
          </a:p>
        </p:txBody>
      </p:sp>
      <p:sp>
        <p:nvSpPr>
          <p:cNvPr name="TextBox 23" id="23"/>
          <p:cNvSpPr txBox="true"/>
          <p:nvPr/>
        </p:nvSpPr>
        <p:spPr>
          <a:xfrm rot="0">
            <a:off x="3656420" y="6892423"/>
            <a:ext cx="2626260" cy="1768475"/>
          </a:xfrm>
          <a:prstGeom prst="rect">
            <a:avLst/>
          </a:prstGeom>
        </p:spPr>
        <p:txBody>
          <a:bodyPr anchor="t" rtlCol="false" tIns="0" lIns="0" bIns="0" rIns="0">
            <a:spAutoFit/>
          </a:bodyPr>
          <a:lstStyle/>
          <a:p>
            <a:pPr algn="ctr">
              <a:lnSpc>
                <a:spcPts val="2800"/>
              </a:lnSpc>
              <a:spcBef>
                <a:spcPct val="0"/>
              </a:spcBef>
            </a:pPr>
            <a:r>
              <a:rPr lang="en-US" b="true" sz="2000">
                <a:solidFill>
                  <a:srgbClr val="F1F5F9"/>
                </a:solidFill>
                <a:latin typeface="Raleway Bold"/>
                <a:ea typeface="Raleway Bold"/>
                <a:cs typeface="Raleway Bold"/>
                <a:sym typeface="Raleway Bold"/>
              </a:rPr>
              <a:t>C</a:t>
            </a:r>
            <a:r>
              <a:rPr lang="en-US" b="true" sz="2000" strike="noStrike" u="none">
                <a:solidFill>
                  <a:srgbClr val="F1F5F9"/>
                </a:solidFill>
                <a:latin typeface="Raleway Bold"/>
                <a:ea typeface="Raleway Bold"/>
                <a:cs typeface="Raleway Bold"/>
                <a:sym typeface="Raleway Bold"/>
              </a:rPr>
              <a:t>umplir todos los requerimientos del reto. </a:t>
            </a:r>
          </a:p>
          <a:p>
            <a:pPr algn="l">
              <a:lnSpc>
                <a:spcPts val="2800"/>
              </a:lnSpc>
              <a:spcBef>
                <a:spcPct val="0"/>
              </a:spcBef>
            </a:pPr>
          </a:p>
          <a:p>
            <a:pPr algn="l" marL="0" indent="0" lvl="0">
              <a:lnSpc>
                <a:spcPts val="2800"/>
              </a:lnSpc>
              <a:spcBef>
                <a:spcPct val="0"/>
              </a:spcBef>
            </a:pPr>
          </a:p>
        </p:txBody>
      </p:sp>
      <p:sp>
        <p:nvSpPr>
          <p:cNvPr name="TextBox 24" id="24"/>
          <p:cNvSpPr txBox="true"/>
          <p:nvPr/>
        </p:nvSpPr>
        <p:spPr>
          <a:xfrm rot="0">
            <a:off x="6597740" y="6892423"/>
            <a:ext cx="2546260" cy="711200"/>
          </a:xfrm>
          <a:prstGeom prst="rect">
            <a:avLst/>
          </a:prstGeom>
        </p:spPr>
        <p:txBody>
          <a:bodyPr anchor="t" rtlCol="false" tIns="0" lIns="0" bIns="0" rIns="0">
            <a:spAutoFit/>
          </a:bodyPr>
          <a:lstStyle/>
          <a:p>
            <a:pPr algn="ctr">
              <a:lnSpc>
                <a:spcPts val="2800"/>
              </a:lnSpc>
              <a:spcBef>
                <a:spcPct val="0"/>
              </a:spcBef>
            </a:pPr>
            <a:r>
              <a:rPr lang="en-US" b="true" sz="2000">
                <a:solidFill>
                  <a:srgbClr val="F1F5F9"/>
                </a:solidFill>
                <a:latin typeface="Raleway Bold"/>
                <a:ea typeface="Raleway Bold"/>
                <a:cs typeface="Raleway Bold"/>
                <a:sym typeface="Raleway Bold"/>
              </a:rPr>
              <a:t>Una </a:t>
            </a:r>
            <a:r>
              <a:rPr lang="en-US" b="true" sz="2000" strike="noStrike" u="none">
                <a:solidFill>
                  <a:srgbClr val="F1F5F9"/>
                </a:solidFill>
                <a:latin typeface="Raleway Bold"/>
                <a:ea typeface="Raleway Bold"/>
                <a:cs typeface="Raleway Bold"/>
                <a:sym typeface="Raleway Bold"/>
              </a:rPr>
              <a:t>interfaz intuitiva y agradable. </a:t>
            </a:r>
          </a:p>
        </p:txBody>
      </p:sp>
      <p:sp>
        <p:nvSpPr>
          <p:cNvPr name="TextBox 25" id="25"/>
          <p:cNvSpPr txBox="true"/>
          <p:nvPr/>
        </p:nvSpPr>
        <p:spPr>
          <a:xfrm rot="0">
            <a:off x="9645146" y="6892423"/>
            <a:ext cx="2546260" cy="1063625"/>
          </a:xfrm>
          <a:prstGeom prst="rect">
            <a:avLst/>
          </a:prstGeom>
        </p:spPr>
        <p:txBody>
          <a:bodyPr anchor="t" rtlCol="false" tIns="0" lIns="0" bIns="0" rIns="0">
            <a:spAutoFit/>
          </a:bodyPr>
          <a:lstStyle/>
          <a:p>
            <a:pPr algn="ctr">
              <a:lnSpc>
                <a:spcPts val="2800"/>
              </a:lnSpc>
              <a:spcBef>
                <a:spcPct val="0"/>
              </a:spcBef>
            </a:pPr>
            <a:r>
              <a:rPr lang="en-US" b="true" sz="2000">
                <a:solidFill>
                  <a:srgbClr val="F1F5F9"/>
                </a:solidFill>
                <a:latin typeface="Raleway Bold"/>
                <a:ea typeface="Raleway Bold"/>
                <a:cs typeface="Raleway Bold"/>
                <a:sym typeface="Raleway Bold"/>
              </a:rPr>
              <a:t>Escr</a:t>
            </a:r>
            <a:r>
              <a:rPr lang="en-US" b="true" sz="2000" strike="noStrike" u="none">
                <a:solidFill>
                  <a:srgbClr val="F1F5F9"/>
                </a:solidFill>
                <a:latin typeface="Raleway Bold"/>
                <a:ea typeface="Raleway Bold"/>
                <a:cs typeface="Raleway Bold"/>
                <a:sym typeface="Raleway Bold"/>
              </a:rPr>
              <a:t>ibir código limpio y con buenas prácticas.</a:t>
            </a:r>
          </a:p>
        </p:txBody>
      </p:sp>
      <p:sp>
        <p:nvSpPr>
          <p:cNvPr name="TextBox 26" id="26"/>
          <p:cNvSpPr txBox="true"/>
          <p:nvPr/>
        </p:nvSpPr>
        <p:spPr>
          <a:xfrm rot="0">
            <a:off x="12677180" y="6892423"/>
            <a:ext cx="2546260" cy="1063625"/>
          </a:xfrm>
          <a:prstGeom prst="rect">
            <a:avLst/>
          </a:prstGeom>
        </p:spPr>
        <p:txBody>
          <a:bodyPr anchor="t" rtlCol="false" tIns="0" lIns="0" bIns="0" rIns="0">
            <a:spAutoFit/>
          </a:bodyPr>
          <a:lstStyle/>
          <a:p>
            <a:pPr algn="ctr">
              <a:lnSpc>
                <a:spcPts val="2800"/>
              </a:lnSpc>
              <a:spcBef>
                <a:spcPct val="0"/>
              </a:spcBef>
            </a:pPr>
            <a:r>
              <a:rPr lang="en-US" b="true" sz="2000">
                <a:solidFill>
                  <a:srgbClr val="F1F5F9"/>
                </a:solidFill>
                <a:latin typeface="Raleway Bold"/>
                <a:ea typeface="Raleway Bold"/>
                <a:cs typeface="Raleway Bold"/>
                <a:sym typeface="Raleway Bold"/>
              </a:rPr>
              <a:t>P</a:t>
            </a:r>
            <a:r>
              <a:rPr lang="en-US" b="true" sz="2000" strike="noStrike" u="none">
                <a:solidFill>
                  <a:srgbClr val="F1F5F9"/>
                </a:solidFill>
                <a:latin typeface="Raleway Bold"/>
                <a:ea typeface="Raleway Bold"/>
                <a:cs typeface="Raleway Bold"/>
                <a:sym typeface="Raleway Bold"/>
              </a:rPr>
              <a:t>royecto funcional, video demo y README impecable.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1827"/>
        </a:solidFill>
      </p:bgPr>
    </p:bg>
    <p:spTree>
      <p:nvGrpSpPr>
        <p:cNvPr id="1" name=""/>
        <p:cNvGrpSpPr/>
        <p:nvPr/>
      </p:nvGrpSpPr>
      <p:grpSpPr>
        <a:xfrm>
          <a:off x="0" y="0"/>
          <a:ext cx="0" cy="0"/>
          <a:chOff x="0" y="0"/>
          <a:chExt cx="0" cy="0"/>
        </a:xfrm>
      </p:grpSpPr>
      <p:sp>
        <p:nvSpPr>
          <p:cNvPr name="TextBox 2" id="2"/>
          <p:cNvSpPr txBox="true"/>
          <p:nvPr/>
        </p:nvSpPr>
        <p:spPr>
          <a:xfrm rot="-5400000">
            <a:off x="-391982" y="3100612"/>
            <a:ext cx="3035036" cy="441324"/>
          </a:xfrm>
          <a:prstGeom prst="rect">
            <a:avLst/>
          </a:prstGeom>
        </p:spPr>
        <p:txBody>
          <a:bodyPr anchor="t" rtlCol="false" tIns="0" lIns="0" bIns="0" rIns="0">
            <a:spAutoFit/>
          </a:bodyPr>
          <a:lstStyle/>
          <a:p>
            <a:pPr algn="r">
              <a:lnSpc>
                <a:spcPts val="3500"/>
              </a:lnSpc>
              <a:spcBef>
                <a:spcPct val="0"/>
              </a:spcBef>
            </a:pPr>
            <a:r>
              <a:rPr lang="en-US" sz="2500" spc="297">
                <a:solidFill>
                  <a:srgbClr val="F1F5F9"/>
                </a:solidFill>
                <a:latin typeface="Raleway"/>
                <a:ea typeface="Raleway"/>
                <a:cs typeface="Raleway"/>
                <a:sym typeface="Raleway"/>
              </a:rPr>
              <a:t>OPTARYS</a:t>
            </a:r>
          </a:p>
        </p:txBody>
      </p:sp>
      <p:sp>
        <p:nvSpPr>
          <p:cNvPr name="AutoShape 3" id="3"/>
          <p:cNvSpPr/>
          <p:nvPr/>
        </p:nvSpPr>
        <p:spPr>
          <a:xfrm flipV="true">
            <a:off x="1158875" y="3740410"/>
            <a:ext cx="0" cy="5517890"/>
          </a:xfrm>
          <a:prstGeom prst="line">
            <a:avLst/>
          </a:prstGeom>
          <a:ln cap="flat" w="38100">
            <a:solidFill>
              <a:srgbClr val="F1F5F9"/>
            </a:solidFill>
            <a:prstDash val="solid"/>
            <a:headEnd type="none" len="sm" w="sm"/>
            <a:tailEnd type="none" len="sm" w="sm"/>
          </a:ln>
        </p:spPr>
      </p:sp>
      <p:grpSp>
        <p:nvGrpSpPr>
          <p:cNvPr name="Group 4" id="4"/>
          <p:cNvGrpSpPr/>
          <p:nvPr/>
        </p:nvGrpSpPr>
        <p:grpSpPr>
          <a:xfrm rot="0">
            <a:off x="2894681" y="5030765"/>
            <a:ext cx="4157924" cy="3036874"/>
            <a:chOff x="0" y="0"/>
            <a:chExt cx="778369" cy="568507"/>
          </a:xfrm>
        </p:grpSpPr>
        <p:sp>
          <p:nvSpPr>
            <p:cNvPr name="Freeform 5" id="5"/>
            <p:cNvSpPr/>
            <p:nvPr/>
          </p:nvSpPr>
          <p:spPr>
            <a:xfrm flipH="false" flipV="false" rot="0">
              <a:off x="0" y="0"/>
              <a:ext cx="778369" cy="568507"/>
            </a:xfrm>
            <a:custGeom>
              <a:avLst/>
              <a:gdLst/>
              <a:ahLst/>
              <a:cxnLst/>
              <a:rect r="r" b="b" t="t" l="l"/>
              <a:pathLst>
                <a:path h="568507" w="778369">
                  <a:moveTo>
                    <a:pt x="0" y="0"/>
                  </a:moveTo>
                  <a:lnTo>
                    <a:pt x="778369" y="0"/>
                  </a:lnTo>
                  <a:lnTo>
                    <a:pt x="778369" y="568507"/>
                  </a:lnTo>
                  <a:lnTo>
                    <a:pt x="0" y="568507"/>
                  </a:lnTo>
                  <a:close/>
                </a:path>
              </a:pathLst>
            </a:custGeom>
            <a:solidFill>
              <a:srgbClr val="0F0F10"/>
            </a:solidFill>
          </p:spPr>
        </p:sp>
        <p:sp>
          <p:nvSpPr>
            <p:cNvPr name="TextBox 6" id="6"/>
            <p:cNvSpPr txBox="true"/>
            <p:nvPr/>
          </p:nvSpPr>
          <p:spPr>
            <a:xfrm>
              <a:off x="0" y="-66675"/>
              <a:ext cx="778369" cy="635182"/>
            </a:xfrm>
            <a:prstGeom prst="rect">
              <a:avLst/>
            </a:prstGeom>
          </p:spPr>
          <p:txBody>
            <a:bodyPr anchor="ctr" rtlCol="false" tIns="50800" lIns="50800" bIns="50800" rIns="50800"/>
            <a:lstStyle/>
            <a:p>
              <a:pPr algn="ctr">
                <a:lnSpc>
                  <a:spcPts val="3500"/>
                </a:lnSpc>
              </a:pPr>
            </a:p>
          </p:txBody>
        </p:sp>
      </p:grpSp>
      <p:grpSp>
        <p:nvGrpSpPr>
          <p:cNvPr name="Group 7" id="7"/>
          <p:cNvGrpSpPr/>
          <p:nvPr/>
        </p:nvGrpSpPr>
        <p:grpSpPr>
          <a:xfrm rot="0">
            <a:off x="12642909" y="5030765"/>
            <a:ext cx="4157924" cy="3036874"/>
            <a:chOff x="0" y="0"/>
            <a:chExt cx="778369" cy="568507"/>
          </a:xfrm>
        </p:grpSpPr>
        <p:sp>
          <p:nvSpPr>
            <p:cNvPr name="Freeform 8" id="8"/>
            <p:cNvSpPr/>
            <p:nvPr/>
          </p:nvSpPr>
          <p:spPr>
            <a:xfrm flipH="false" flipV="false" rot="0">
              <a:off x="0" y="0"/>
              <a:ext cx="778369" cy="568507"/>
            </a:xfrm>
            <a:custGeom>
              <a:avLst/>
              <a:gdLst/>
              <a:ahLst/>
              <a:cxnLst/>
              <a:rect r="r" b="b" t="t" l="l"/>
              <a:pathLst>
                <a:path h="568507" w="778369">
                  <a:moveTo>
                    <a:pt x="0" y="0"/>
                  </a:moveTo>
                  <a:lnTo>
                    <a:pt x="778369" y="0"/>
                  </a:lnTo>
                  <a:lnTo>
                    <a:pt x="778369" y="568507"/>
                  </a:lnTo>
                  <a:lnTo>
                    <a:pt x="0" y="568507"/>
                  </a:lnTo>
                  <a:close/>
                </a:path>
              </a:pathLst>
            </a:custGeom>
            <a:solidFill>
              <a:srgbClr val="F1F5F9"/>
            </a:solidFill>
          </p:spPr>
        </p:sp>
        <p:sp>
          <p:nvSpPr>
            <p:cNvPr name="TextBox 9" id="9"/>
            <p:cNvSpPr txBox="true"/>
            <p:nvPr/>
          </p:nvSpPr>
          <p:spPr>
            <a:xfrm>
              <a:off x="0" y="-66675"/>
              <a:ext cx="778369" cy="635182"/>
            </a:xfrm>
            <a:prstGeom prst="rect">
              <a:avLst/>
            </a:prstGeom>
          </p:spPr>
          <p:txBody>
            <a:bodyPr anchor="ctr" rtlCol="false" tIns="50800" lIns="50800" bIns="50800" rIns="50800"/>
            <a:lstStyle/>
            <a:p>
              <a:pPr algn="ctr">
                <a:lnSpc>
                  <a:spcPts val="3500"/>
                </a:lnSpc>
              </a:pPr>
            </a:p>
          </p:txBody>
        </p:sp>
      </p:grpSp>
      <p:grpSp>
        <p:nvGrpSpPr>
          <p:cNvPr name="Group 10" id="10"/>
          <p:cNvGrpSpPr/>
          <p:nvPr/>
        </p:nvGrpSpPr>
        <p:grpSpPr>
          <a:xfrm rot="0">
            <a:off x="7722985" y="5030765"/>
            <a:ext cx="4157924" cy="3036874"/>
            <a:chOff x="0" y="0"/>
            <a:chExt cx="778369" cy="568507"/>
          </a:xfrm>
        </p:grpSpPr>
        <p:sp>
          <p:nvSpPr>
            <p:cNvPr name="Freeform 11" id="11"/>
            <p:cNvSpPr/>
            <p:nvPr/>
          </p:nvSpPr>
          <p:spPr>
            <a:xfrm flipH="false" flipV="false" rot="0">
              <a:off x="0" y="0"/>
              <a:ext cx="778369" cy="568507"/>
            </a:xfrm>
            <a:custGeom>
              <a:avLst/>
              <a:gdLst/>
              <a:ahLst/>
              <a:cxnLst/>
              <a:rect r="r" b="b" t="t" l="l"/>
              <a:pathLst>
                <a:path h="568507" w="778369">
                  <a:moveTo>
                    <a:pt x="0" y="0"/>
                  </a:moveTo>
                  <a:lnTo>
                    <a:pt x="778369" y="0"/>
                  </a:lnTo>
                  <a:lnTo>
                    <a:pt x="778369" y="568507"/>
                  </a:lnTo>
                  <a:lnTo>
                    <a:pt x="0" y="568507"/>
                  </a:lnTo>
                  <a:close/>
                </a:path>
              </a:pathLst>
            </a:custGeom>
            <a:solidFill>
              <a:srgbClr val="F1F5F9"/>
            </a:solidFill>
          </p:spPr>
        </p:sp>
        <p:sp>
          <p:nvSpPr>
            <p:cNvPr name="TextBox 12" id="12"/>
            <p:cNvSpPr txBox="true"/>
            <p:nvPr/>
          </p:nvSpPr>
          <p:spPr>
            <a:xfrm>
              <a:off x="0" y="-66675"/>
              <a:ext cx="778369" cy="635182"/>
            </a:xfrm>
            <a:prstGeom prst="rect">
              <a:avLst/>
            </a:prstGeom>
          </p:spPr>
          <p:txBody>
            <a:bodyPr anchor="ctr" rtlCol="false" tIns="50800" lIns="50800" bIns="50800" rIns="50800"/>
            <a:lstStyle/>
            <a:p>
              <a:pPr algn="ctr">
                <a:lnSpc>
                  <a:spcPts val="3500"/>
                </a:lnSpc>
              </a:pPr>
            </a:p>
          </p:txBody>
        </p:sp>
      </p:grpSp>
      <p:sp>
        <p:nvSpPr>
          <p:cNvPr name="Freeform 13" id="13"/>
          <p:cNvSpPr/>
          <p:nvPr/>
        </p:nvSpPr>
        <p:spPr>
          <a:xfrm flipH="false" flipV="false" rot="0">
            <a:off x="16632888" y="353644"/>
            <a:ext cx="1252825" cy="1252825"/>
          </a:xfrm>
          <a:custGeom>
            <a:avLst/>
            <a:gdLst/>
            <a:ahLst/>
            <a:cxnLst/>
            <a:rect r="r" b="b" t="t" l="l"/>
            <a:pathLst>
              <a:path h="1252825" w="1252825">
                <a:moveTo>
                  <a:pt x="0" y="0"/>
                </a:moveTo>
                <a:lnTo>
                  <a:pt x="1252824" y="0"/>
                </a:lnTo>
                <a:lnTo>
                  <a:pt x="1252824" y="1252824"/>
                </a:lnTo>
                <a:lnTo>
                  <a:pt x="0" y="1252824"/>
                </a:lnTo>
                <a:lnTo>
                  <a:pt x="0" y="0"/>
                </a:lnTo>
                <a:close/>
              </a:path>
            </a:pathLst>
          </a:custGeom>
          <a:blipFill>
            <a:blip r:embed="rId2"/>
            <a:stretch>
              <a:fillRect l="0" t="0" r="0" b="0"/>
            </a:stretch>
          </a:blipFill>
        </p:spPr>
      </p:sp>
      <p:sp>
        <p:nvSpPr>
          <p:cNvPr name="Freeform 14" id="14"/>
          <p:cNvSpPr/>
          <p:nvPr/>
        </p:nvSpPr>
        <p:spPr>
          <a:xfrm flipH="false" flipV="false" rot="0">
            <a:off x="8892687" y="5333865"/>
            <a:ext cx="2410379" cy="2250691"/>
          </a:xfrm>
          <a:custGeom>
            <a:avLst/>
            <a:gdLst/>
            <a:ahLst/>
            <a:cxnLst/>
            <a:rect r="r" b="b" t="t" l="l"/>
            <a:pathLst>
              <a:path h="2250691" w="2410379">
                <a:moveTo>
                  <a:pt x="0" y="0"/>
                </a:moveTo>
                <a:lnTo>
                  <a:pt x="2410379" y="0"/>
                </a:lnTo>
                <a:lnTo>
                  <a:pt x="2410379" y="2250692"/>
                </a:lnTo>
                <a:lnTo>
                  <a:pt x="0" y="22506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4011350" y="5378663"/>
            <a:ext cx="1716758" cy="2161095"/>
          </a:xfrm>
          <a:custGeom>
            <a:avLst/>
            <a:gdLst/>
            <a:ahLst/>
            <a:cxnLst/>
            <a:rect r="r" b="b" t="t" l="l"/>
            <a:pathLst>
              <a:path h="2161095" w="1716758">
                <a:moveTo>
                  <a:pt x="0" y="0"/>
                </a:moveTo>
                <a:lnTo>
                  <a:pt x="1716758" y="0"/>
                </a:lnTo>
                <a:lnTo>
                  <a:pt x="1716758" y="2161096"/>
                </a:lnTo>
                <a:lnTo>
                  <a:pt x="0" y="2161096"/>
                </a:lnTo>
                <a:lnTo>
                  <a:pt x="0" y="0"/>
                </a:lnTo>
                <a:close/>
              </a:path>
            </a:pathLst>
          </a:custGeom>
          <a:blipFill>
            <a:blip r:embed="rId5"/>
            <a:stretch>
              <a:fillRect l="0" t="0" r="0" b="0"/>
            </a:stretch>
          </a:blipFill>
        </p:spPr>
      </p:sp>
      <p:sp>
        <p:nvSpPr>
          <p:cNvPr name="Freeform 16" id="16"/>
          <p:cNvSpPr/>
          <p:nvPr/>
        </p:nvSpPr>
        <p:spPr>
          <a:xfrm flipH="false" flipV="false" rot="0">
            <a:off x="13221761" y="5559145"/>
            <a:ext cx="3000220" cy="1800132"/>
          </a:xfrm>
          <a:custGeom>
            <a:avLst/>
            <a:gdLst/>
            <a:ahLst/>
            <a:cxnLst/>
            <a:rect r="r" b="b" t="t" l="l"/>
            <a:pathLst>
              <a:path h="1800132" w="3000220">
                <a:moveTo>
                  <a:pt x="0" y="0"/>
                </a:moveTo>
                <a:lnTo>
                  <a:pt x="3000220" y="0"/>
                </a:lnTo>
                <a:lnTo>
                  <a:pt x="3000220" y="1800132"/>
                </a:lnTo>
                <a:lnTo>
                  <a:pt x="0" y="1800132"/>
                </a:lnTo>
                <a:lnTo>
                  <a:pt x="0" y="0"/>
                </a:lnTo>
                <a:close/>
              </a:path>
            </a:pathLst>
          </a:custGeom>
          <a:blipFill>
            <a:blip r:embed="rId6"/>
            <a:stretch>
              <a:fillRect l="0" t="0" r="0" b="0"/>
            </a:stretch>
          </a:blipFill>
        </p:spPr>
      </p:sp>
      <p:sp>
        <p:nvSpPr>
          <p:cNvPr name="TextBox 17" id="17"/>
          <p:cNvSpPr txBox="true"/>
          <p:nvPr/>
        </p:nvSpPr>
        <p:spPr>
          <a:xfrm rot="0">
            <a:off x="2682016" y="2403769"/>
            <a:ext cx="14331482" cy="2316480"/>
          </a:xfrm>
          <a:prstGeom prst="rect">
            <a:avLst/>
          </a:prstGeom>
        </p:spPr>
        <p:txBody>
          <a:bodyPr anchor="t" rtlCol="false" tIns="0" lIns="0" bIns="0" rIns="0">
            <a:spAutoFit/>
          </a:bodyPr>
          <a:lstStyle/>
          <a:p>
            <a:pPr algn="ctr" marL="0" indent="0" lvl="1">
              <a:lnSpc>
                <a:spcPts val="8910"/>
              </a:lnSpc>
              <a:spcBef>
                <a:spcPct val="0"/>
              </a:spcBef>
            </a:pPr>
            <a:r>
              <a:rPr lang="en-US" b="true" sz="9000">
                <a:solidFill>
                  <a:srgbClr val="F1F5F9"/>
                </a:solidFill>
                <a:latin typeface="Raleway Bold"/>
                <a:ea typeface="Raleway Bold"/>
                <a:cs typeface="Raleway Bold"/>
                <a:sym typeface="Raleway Bold"/>
              </a:rPr>
              <a:t>Sta</a:t>
            </a:r>
            <a:r>
              <a:rPr lang="en-US" b="true" sz="9000">
                <a:solidFill>
                  <a:srgbClr val="F1F5F9"/>
                </a:solidFill>
                <a:latin typeface="Raleway Bold"/>
                <a:ea typeface="Raleway Bold"/>
                <a:cs typeface="Raleway Bold"/>
                <a:sym typeface="Raleway Bold"/>
              </a:rPr>
              <a:t>ck Tecnológico (Frontend)</a:t>
            </a:r>
          </a:p>
        </p:txBody>
      </p:sp>
      <p:sp>
        <p:nvSpPr>
          <p:cNvPr name="TextBox 18" id="18"/>
          <p:cNvSpPr txBox="true"/>
          <p:nvPr/>
        </p:nvSpPr>
        <p:spPr>
          <a:xfrm rot="0">
            <a:off x="3167296" y="8204568"/>
            <a:ext cx="3612694" cy="711200"/>
          </a:xfrm>
          <a:prstGeom prst="rect">
            <a:avLst/>
          </a:prstGeom>
        </p:spPr>
        <p:txBody>
          <a:bodyPr anchor="t" rtlCol="false" tIns="0" lIns="0" bIns="0" rIns="0">
            <a:spAutoFit/>
          </a:bodyPr>
          <a:lstStyle/>
          <a:p>
            <a:pPr algn="l" marL="0" indent="0" lvl="0">
              <a:lnSpc>
                <a:spcPts val="2800"/>
              </a:lnSpc>
              <a:spcBef>
                <a:spcPct val="0"/>
              </a:spcBef>
            </a:pPr>
            <a:r>
              <a:rPr lang="en-US" b="true" sz="2000">
                <a:solidFill>
                  <a:srgbClr val="F1F5F9"/>
                </a:solidFill>
                <a:latin typeface="Raleway Bold"/>
                <a:ea typeface="Raleway Bold"/>
                <a:cs typeface="Raleway Bold"/>
                <a:sym typeface="Raleway Bold"/>
              </a:rPr>
              <a:t>Astro: Para </a:t>
            </a:r>
            <a:r>
              <a:rPr lang="en-US" b="true" sz="2000" strike="noStrike" u="none">
                <a:solidFill>
                  <a:srgbClr val="F1F5F9"/>
                </a:solidFill>
                <a:latin typeface="Raleway Bold"/>
                <a:ea typeface="Raleway Bold"/>
                <a:cs typeface="Raleway Bold"/>
                <a:sym typeface="Raleway Bold"/>
              </a:rPr>
              <a:t>máxima velocidad y rendimiento.</a:t>
            </a:r>
          </a:p>
        </p:txBody>
      </p:sp>
      <p:sp>
        <p:nvSpPr>
          <p:cNvPr name="TextBox 19" id="19"/>
          <p:cNvSpPr txBox="true"/>
          <p:nvPr/>
        </p:nvSpPr>
        <p:spPr>
          <a:xfrm rot="0">
            <a:off x="7995600" y="8204568"/>
            <a:ext cx="3612694" cy="711200"/>
          </a:xfrm>
          <a:prstGeom prst="rect">
            <a:avLst/>
          </a:prstGeom>
        </p:spPr>
        <p:txBody>
          <a:bodyPr anchor="t" rtlCol="false" tIns="0" lIns="0" bIns="0" rIns="0">
            <a:spAutoFit/>
          </a:bodyPr>
          <a:lstStyle/>
          <a:p>
            <a:pPr algn="l" marL="0" indent="0" lvl="0">
              <a:lnSpc>
                <a:spcPts val="2800"/>
              </a:lnSpc>
              <a:spcBef>
                <a:spcPct val="0"/>
              </a:spcBef>
            </a:pPr>
            <a:r>
              <a:rPr lang="en-US" b="true" sz="2000">
                <a:solidFill>
                  <a:srgbClr val="F1F5F9"/>
                </a:solidFill>
                <a:latin typeface="Raleway Bold"/>
                <a:ea typeface="Raleway Bold"/>
                <a:cs typeface="Raleway Bold"/>
                <a:sym typeface="Raleway Bold"/>
              </a:rPr>
              <a:t>React: Para co</a:t>
            </a:r>
            <a:r>
              <a:rPr lang="en-US" b="true" sz="2000" strike="noStrike" u="none">
                <a:solidFill>
                  <a:srgbClr val="F1F5F9"/>
                </a:solidFill>
                <a:latin typeface="Raleway Bold"/>
                <a:ea typeface="Raleway Bold"/>
                <a:cs typeface="Raleway Bold"/>
                <a:sym typeface="Raleway Bold"/>
              </a:rPr>
              <a:t>mponentes interactivos y dinámicos.</a:t>
            </a:r>
          </a:p>
        </p:txBody>
      </p:sp>
      <p:sp>
        <p:nvSpPr>
          <p:cNvPr name="TextBox 20" id="20"/>
          <p:cNvSpPr txBox="true"/>
          <p:nvPr/>
        </p:nvSpPr>
        <p:spPr>
          <a:xfrm rot="0">
            <a:off x="12827494" y="8204568"/>
            <a:ext cx="3612694" cy="1063625"/>
          </a:xfrm>
          <a:prstGeom prst="rect">
            <a:avLst/>
          </a:prstGeom>
        </p:spPr>
        <p:txBody>
          <a:bodyPr anchor="t" rtlCol="false" tIns="0" lIns="0" bIns="0" rIns="0">
            <a:spAutoFit/>
          </a:bodyPr>
          <a:lstStyle/>
          <a:p>
            <a:pPr algn="l" marL="0" indent="0" lvl="0">
              <a:lnSpc>
                <a:spcPts val="2800"/>
              </a:lnSpc>
              <a:spcBef>
                <a:spcPct val="0"/>
              </a:spcBef>
            </a:pPr>
            <a:r>
              <a:rPr lang="en-US" b="true" sz="2000">
                <a:solidFill>
                  <a:srgbClr val="F1F5F9"/>
                </a:solidFill>
                <a:latin typeface="Raleway Bold"/>
                <a:ea typeface="Raleway Bold"/>
                <a:cs typeface="Raleway Bold"/>
                <a:sym typeface="Raleway Bold"/>
              </a:rPr>
              <a:t>TailwindCSS: Para un diseño </a:t>
            </a:r>
            <a:r>
              <a:rPr lang="en-US" b="true" sz="2000" strike="noStrike" u="none">
                <a:solidFill>
                  <a:srgbClr val="F1F5F9"/>
                </a:solidFill>
                <a:latin typeface="Raleway Bold"/>
                <a:ea typeface="Raleway Bold"/>
                <a:cs typeface="Raleway Bold"/>
                <a:sym typeface="Raleway Bold"/>
              </a:rPr>
              <a:t>moderno, rápido y consistente.</a:t>
            </a:r>
          </a:p>
        </p:txBody>
      </p:sp>
      <p:sp>
        <p:nvSpPr>
          <p:cNvPr name="Freeform 21" id="21"/>
          <p:cNvSpPr/>
          <p:nvPr/>
        </p:nvSpPr>
        <p:spPr>
          <a:xfrm flipH="false" flipV="false" rot="0">
            <a:off x="2682016" y="2554315"/>
            <a:ext cx="1807861" cy="2064200"/>
          </a:xfrm>
          <a:custGeom>
            <a:avLst/>
            <a:gdLst/>
            <a:ahLst/>
            <a:cxnLst/>
            <a:rect r="r" b="b" t="t" l="l"/>
            <a:pathLst>
              <a:path h="2064200" w="1807861">
                <a:moveTo>
                  <a:pt x="0" y="0"/>
                </a:moveTo>
                <a:lnTo>
                  <a:pt x="1807861" y="0"/>
                </a:lnTo>
                <a:lnTo>
                  <a:pt x="1807861" y="2064200"/>
                </a:lnTo>
                <a:lnTo>
                  <a:pt x="0" y="2064200"/>
                </a:lnTo>
                <a:lnTo>
                  <a:pt x="0" y="0"/>
                </a:lnTo>
                <a:close/>
              </a:path>
            </a:pathLst>
          </a:custGeom>
          <a:blipFill>
            <a:blip r:embed="rId7"/>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11827"/>
        </a:solidFill>
      </p:bgPr>
    </p:bg>
    <p:spTree>
      <p:nvGrpSpPr>
        <p:cNvPr id="1" name=""/>
        <p:cNvGrpSpPr/>
        <p:nvPr/>
      </p:nvGrpSpPr>
      <p:grpSpPr>
        <a:xfrm>
          <a:off x="0" y="0"/>
          <a:ext cx="0" cy="0"/>
          <a:chOff x="0" y="0"/>
          <a:chExt cx="0" cy="0"/>
        </a:xfrm>
      </p:grpSpPr>
      <p:sp>
        <p:nvSpPr>
          <p:cNvPr name="TextBox 2" id="2"/>
          <p:cNvSpPr txBox="true"/>
          <p:nvPr/>
        </p:nvSpPr>
        <p:spPr>
          <a:xfrm rot="-5400000">
            <a:off x="-391982" y="3100612"/>
            <a:ext cx="3035036" cy="441324"/>
          </a:xfrm>
          <a:prstGeom prst="rect">
            <a:avLst/>
          </a:prstGeom>
        </p:spPr>
        <p:txBody>
          <a:bodyPr anchor="t" rtlCol="false" tIns="0" lIns="0" bIns="0" rIns="0">
            <a:spAutoFit/>
          </a:bodyPr>
          <a:lstStyle/>
          <a:p>
            <a:pPr algn="r">
              <a:lnSpc>
                <a:spcPts val="3500"/>
              </a:lnSpc>
              <a:spcBef>
                <a:spcPct val="0"/>
              </a:spcBef>
            </a:pPr>
            <a:r>
              <a:rPr lang="en-US" sz="2500" spc="297">
                <a:solidFill>
                  <a:srgbClr val="F1F5F9"/>
                </a:solidFill>
                <a:latin typeface="Raleway"/>
                <a:ea typeface="Raleway"/>
                <a:cs typeface="Raleway"/>
                <a:sym typeface="Raleway"/>
              </a:rPr>
              <a:t>OPTARYS</a:t>
            </a:r>
          </a:p>
        </p:txBody>
      </p:sp>
      <p:sp>
        <p:nvSpPr>
          <p:cNvPr name="AutoShape 3" id="3"/>
          <p:cNvSpPr/>
          <p:nvPr/>
        </p:nvSpPr>
        <p:spPr>
          <a:xfrm flipV="true">
            <a:off x="1158875" y="3740410"/>
            <a:ext cx="0" cy="5517890"/>
          </a:xfrm>
          <a:prstGeom prst="line">
            <a:avLst/>
          </a:prstGeom>
          <a:ln cap="flat" w="38100">
            <a:solidFill>
              <a:srgbClr val="F1F5F9"/>
            </a:solidFill>
            <a:prstDash val="solid"/>
            <a:headEnd type="none" len="sm" w="sm"/>
            <a:tailEnd type="none" len="sm" w="sm"/>
          </a:ln>
        </p:spPr>
      </p:sp>
      <p:grpSp>
        <p:nvGrpSpPr>
          <p:cNvPr name="Group 4" id="4"/>
          <p:cNvGrpSpPr/>
          <p:nvPr/>
        </p:nvGrpSpPr>
        <p:grpSpPr>
          <a:xfrm rot="0">
            <a:off x="2894681" y="5030765"/>
            <a:ext cx="4157924" cy="3036874"/>
            <a:chOff x="0" y="0"/>
            <a:chExt cx="778369" cy="568507"/>
          </a:xfrm>
        </p:grpSpPr>
        <p:sp>
          <p:nvSpPr>
            <p:cNvPr name="Freeform 5" id="5"/>
            <p:cNvSpPr/>
            <p:nvPr/>
          </p:nvSpPr>
          <p:spPr>
            <a:xfrm flipH="false" flipV="false" rot="0">
              <a:off x="0" y="0"/>
              <a:ext cx="778369" cy="568507"/>
            </a:xfrm>
            <a:custGeom>
              <a:avLst/>
              <a:gdLst/>
              <a:ahLst/>
              <a:cxnLst/>
              <a:rect r="r" b="b" t="t" l="l"/>
              <a:pathLst>
                <a:path h="568507" w="778369">
                  <a:moveTo>
                    <a:pt x="0" y="0"/>
                  </a:moveTo>
                  <a:lnTo>
                    <a:pt x="778369" y="0"/>
                  </a:lnTo>
                  <a:lnTo>
                    <a:pt x="778369" y="568507"/>
                  </a:lnTo>
                  <a:lnTo>
                    <a:pt x="0" y="568507"/>
                  </a:lnTo>
                  <a:close/>
                </a:path>
              </a:pathLst>
            </a:custGeom>
            <a:solidFill>
              <a:srgbClr val="0F0F10"/>
            </a:solidFill>
          </p:spPr>
        </p:sp>
        <p:sp>
          <p:nvSpPr>
            <p:cNvPr name="TextBox 6" id="6"/>
            <p:cNvSpPr txBox="true"/>
            <p:nvPr/>
          </p:nvSpPr>
          <p:spPr>
            <a:xfrm>
              <a:off x="0" y="-66675"/>
              <a:ext cx="778369" cy="635182"/>
            </a:xfrm>
            <a:prstGeom prst="rect">
              <a:avLst/>
            </a:prstGeom>
          </p:spPr>
          <p:txBody>
            <a:bodyPr anchor="ctr" rtlCol="false" tIns="50800" lIns="50800" bIns="50800" rIns="50800"/>
            <a:lstStyle/>
            <a:p>
              <a:pPr algn="ctr">
                <a:lnSpc>
                  <a:spcPts val="3500"/>
                </a:lnSpc>
              </a:pPr>
            </a:p>
          </p:txBody>
        </p:sp>
      </p:grpSp>
      <p:sp>
        <p:nvSpPr>
          <p:cNvPr name="Freeform 7" id="7"/>
          <p:cNvSpPr/>
          <p:nvPr/>
        </p:nvSpPr>
        <p:spPr>
          <a:xfrm flipH="false" flipV="false" rot="0">
            <a:off x="16632888" y="353644"/>
            <a:ext cx="1252825" cy="1252825"/>
          </a:xfrm>
          <a:custGeom>
            <a:avLst/>
            <a:gdLst/>
            <a:ahLst/>
            <a:cxnLst/>
            <a:rect r="r" b="b" t="t" l="l"/>
            <a:pathLst>
              <a:path h="1252825" w="1252825">
                <a:moveTo>
                  <a:pt x="0" y="0"/>
                </a:moveTo>
                <a:lnTo>
                  <a:pt x="1252824" y="0"/>
                </a:lnTo>
                <a:lnTo>
                  <a:pt x="1252824" y="1252824"/>
                </a:lnTo>
                <a:lnTo>
                  <a:pt x="0" y="1252824"/>
                </a:lnTo>
                <a:lnTo>
                  <a:pt x="0" y="0"/>
                </a:lnTo>
                <a:close/>
              </a:path>
            </a:pathLst>
          </a:custGeom>
          <a:blipFill>
            <a:blip r:embed="rId2"/>
            <a:stretch>
              <a:fillRect l="0" t="0" r="0" b="0"/>
            </a:stretch>
          </a:blipFill>
        </p:spPr>
      </p:sp>
      <p:sp>
        <p:nvSpPr>
          <p:cNvPr name="Freeform 8" id="8"/>
          <p:cNvSpPr/>
          <p:nvPr/>
        </p:nvSpPr>
        <p:spPr>
          <a:xfrm flipH="false" flipV="false" rot="0">
            <a:off x="3717007" y="5333865"/>
            <a:ext cx="2662953" cy="2581196"/>
          </a:xfrm>
          <a:custGeom>
            <a:avLst/>
            <a:gdLst/>
            <a:ahLst/>
            <a:cxnLst/>
            <a:rect r="r" b="b" t="t" l="l"/>
            <a:pathLst>
              <a:path h="2581196" w="2662953">
                <a:moveTo>
                  <a:pt x="0" y="0"/>
                </a:moveTo>
                <a:lnTo>
                  <a:pt x="2662953" y="0"/>
                </a:lnTo>
                <a:lnTo>
                  <a:pt x="2662953" y="2581196"/>
                </a:lnTo>
                <a:lnTo>
                  <a:pt x="0" y="2581196"/>
                </a:lnTo>
                <a:lnTo>
                  <a:pt x="0" y="0"/>
                </a:lnTo>
                <a:close/>
              </a:path>
            </a:pathLst>
          </a:custGeom>
          <a:blipFill>
            <a:blip r:embed="rId3"/>
            <a:stretch>
              <a:fillRect l="0" t="0" r="0" b="0"/>
            </a:stretch>
          </a:blipFill>
        </p:spPr>
      </p:sp>
      <p:grpSp>
        <p:nvGrpSpPr>
          <p:cNvPr name="Group 9" id="9"/>
          <p:cNvGrpSpPr/>
          <p:nvPr/>
        </p:nvGrpSpPr>
        <p:grpSpPr>
          <a:xfrm rot="0">
            <a:off x="7373298" y="5106026"/>
            <a:ext cx="4157924" cy="3036874"/>
            <a:chOff x="0" y="0"/>
            <a:chExt cx="778369" cy="568507"/>
          </a:xfrm>
        </p:grpSpPr>
        <p:sp>
          <p:nvSpPr>
            <p:cNvPr name="Freeform 10" id="10"/>
            <p:cNvSpPr/>
            <p:nvPr/>
          </p:nvSpPr>
          <p:spPr>
            <a:xfrm flipH="false" flipV="false" rot="0">
              <a:off x="0" y="0"/>
              <a:ext cx="778369" cy="568507"/>
            </a:xfrm>
            <a:custGeom>
              <a:avLst/>
              <a:gdLst/>
              <a:ahLst/>
              <a:cxnLst/>
              <a:rect r="r" b="b" t="t" l="l"/>
              <a:pathLst>
                <a:path h="568507" w="778369">
                  <a:moveTo>
                    <a:pt x="0" y="0"/>
                  </a:moveTo>
                  <a:lnTo>
                    <a:pt x="778369" y="0"/>
                  </a:lnTo>
                  <a:lnTo>
                    <a:pt x="778369" y="568507"/>
                  </a:lnTo>
                  <a:lnTo>
                    <a:pt x="0" y="568507"/>
                  </a:lnTo>
                  <a:close/>
                </a:path>
              </a:pathLst>
            </a:custGeom>
            <a:solidFill>
              <a:srgbClr val="0F0F10"/>
            </a:solidFill>
          </p:spPr>
        </p:sp>
        <p:sp>
          <p:nvSpPr>
            <p:cNvPr name="TextBox 11" id="11"/>
            <p:cNvSpPr txBox="true"/>
            <p:nvPr/>
          </p:nvSpPr>
          <p:spPr>
            <a:xfrm>
              <a:off x="0" y="-66675"/>
              <a:ext cx="778369" cy="635182"/>
            </a:xfrm>
            <a:prstGeom prst="rect">
              <a:avLst/>
            </a:prstGeom>
          </p:spPr>
          <p:txBody>
            <a:bodyPr anchor="ctr" rtlCol="false" tIns="50800" lIns="50800" bIns="50800" rIns="50800"/>
            <a:lstStyle/>
            <a:p>
              <a:pPr algn="ctr">
                <a:lnSpc>
                  <a:spcPts val="3500"/>
                </a:lnSpc>
              </a:pPr>
            </a:p>
          </p:txBody>
        </p:sp>
      </p:grpSp>
      <p:sp>
        <p:nvSpPr>
          <p:cNvPr name="Freeform 12" id="12"/>
          <p:cNvSpPr/>
          <p:nvPr/>
        </p:nvSpPr>
        <p:spPr>
          <a:xfrm flipH="false" flipV="false" rot="0">
            <a:off x="8515553" y="5555634"/>
            <a:ext cx="2093726" cy="1987136"/>
          </a:xfrm>
          <a:custGeom>
            <a:avLst/>
            <a:gdLst/>
            <a:ahLst/>
            <a:cxnLst/>
            <a:rect r="r" b="b" t="t" l="l"/>
            <a:pathLst>
              <a:path h="1987136" w="2093726">
                <a:moveTo>
                  <a:pt x="0" y="0"/>
                </a:moveTo>
                <a:lnTo>
                  <a:pt x="2093725" y="0"/>
                </a:lnTo>
                <a:lnTo>
                  <a:pt x="2093725" y="1987136"/>
                </a:lnTo>
                <a:lnTo>
                  <a:pt x="0" y="19871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12049202" y="5143500"/>
            <a:ext cx="4157924" cy="3036874"/>
            <a:chOff x="0" y="0"/>
            <a:chExt cx="778369" cy="568507"/>
          </a:xfrm>
        </p:grpSpPr>
        <p:sp>
          <p:nvSpPr>
            <p:cNvPr name="Freeform 14" id="14"/>
            <p:cNvSpPr/>
            <p:nvPr/>
          </p:nvSpPr>
          <p:spPr>
            <a:xfrm flipH="false" flipV="false" rot="0">
              <a:off x="0" y="0"/>
              <a:ext cx="778369" cy="568507"/>
            </a:xfrm>
            <a:custGeom>
              <a:avLst/>
              <a:gdLst/>
              <a:ahLst/>
              <a:cxnLst/>
              <a:rect r="r" b="b" t="t" l="l"/>
              <a:pathLst>
                <a:path h="568507" w="778369">
                  <a:moveTo>
                    <a:pt x="0" y="0"/>
                  </a:moveTo>
                  <a:lnTo>
                    <a:pt x="778369" y="0"/>
                  </a:lnTo>
                  <a:lnTo>
                    <a:pt x="778369" y="568507"/>
                  </a:lnTo>
                  <a:lnTo>
                    <a:pt x="0" y="568507"/>
                  </a:lnTo>
                  <a:close/>
                </a:path>
              </a:pathLst>
            </a:custGeom>
            <a:solidFill>
              <a:srgbClr val="0F0F10"/>
            </a:solidFill>
          </p:spPr>
        </p:sp>
        <p:sp>
          <p:nvSpPr>
            <p:cNvPr name="TextBox 15" id="15"/>
            <p:cNvSpPr txBox="true"/>
            <p:nvPr/>
          </p:nvSpPr>
          <p:spPr>
            <a:xfrm>
              <a:off x="0" y="-66675"/>
              <a:ext cx="778369" cy="635182"/>
            </a:xfrm>
            <a:prstGeom prst="rect">
              <a:avLst/>
            </a:prstGeom>
          </p:spPr>
          <p:txBody>
            <a:bodyPr anchor="ctr" rtlCol="false" tIns="50800" lIns="50800" bIns="50800" rIns="50800"/>
            <a:lstStyle/>
            <a:p>
              <a:pPr algn="ctr">
                <a:lnSpc>
                  <a:spcPts val="3500"/>
                </a:lnSpc>
              </a:pPr>
            </a:p>
          </p:txBody>
        </p:sp>
      </p:grpSp>
      <p:sp>
        <p:nvSpPr>
          <p:cNvPr name="Freeform 16" id="16"/>
          <p:cNvSpPr/>
          <p:nvPr/>
        </p:nvSpPr>
        <p:spPr>
          <a:xfrm flipH="false" flipV="false" rot="0">
            <a:off x="12862512" y="5536897"/>
            <a:ext cx="2715028" cy="2250079"/>
          </a:xfrm>
          <a:custGeom>
            <a:avLst/>
            <a:gdLst/>
            <a:ahLst/>
            <a:cxnLst/>
            <a:rect r="r" b="b" t="t" l="l"/>
            <a:pathLst>
              <a:path h="2250079" w="2715028">
                <a:moveTo>
                  <a:pt x="0" y="0"/>
                </a:moveTo>
                <a:lnTo>
                  <a:pt x="2715027" y="0"/>
                </a:lnTo>
                <a:lnTo>
                  <a:pt x="2715027" y="2250079"/>
                </a:lnTo>
                <a:lnTo>
                  <a:pt x="0" y="22500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2682016" y="2403769"/>
            <a:ext cx="14331482" cy="2316480"/>
          </a:xfrm>
          <a:prstGeom prst="rect">
            <a:avLst/>
          </a:prstGeom>
        </p:spPr>
        <p:txBody>
          <a:bodyPr anchor="t" rtlCol="false" tIns="0" lIns="0" bIns="0" rIns="0">
            <a:spAutoFit/>
          </a:bodyPr>
          <a:lstStyle/>
          <a:p>
            <a:pPr algn="ctr" marL="0" indent="0" lvl="1">
              <a:lnSpc>
                <a:spcPts val="8910"/>
              </a:lnSpc>
              <a:spcBef>
                <a:spcPct val="0"/>
              </a:spcBef>
            </a:pPr>
            <a:r>
              <a:rPr lang="en-US" b="true" sz="9000">
                <a:solidFill>
                  <a:srgbClr val="F1F5F9"/>
                </a:solidFill>
                <a:latin typeface="Raleway Bold"/>
                <a:ea typeface="Raleway Bold"/>
                <a:cs typeface="Raleway Bold"/>
                <a:sym typeface="Raleway Bold"/>
              </a:rPr>
              <a:t>Sta</a:t>
            </a:r>
            <a:r>
              <a:rPr lang="en-US" b="true" sz="9000">
                <a:solidFill>
                  <a:srgbClr val="F1F5F9"/>
                </a:solidFill>
                <a:latin typeface="Raleway Bold"/>
                <a:ea typeface="Raleway Bold"/>
                <a:cs typeface="Raleway Bold"/>
                <a:sym typeface="Raleway Bold"/>
              </a:rPr>
              <a:t>ck Tecnológico (Backend)</a:t>
            </a:r>
          </a:p>
        </p:txBody>
      </p:sp>
      <p:sp>
        <p:nvSpPr>
          <p:cNvPr name="TextBox 18" id="18"/>
          <p:cNvSpPr txBox="true"/>
          <p:nvPr/>
        </p:nvSpPr>
        <p:spPr>
          <a:xfrm rot="0">
            <a:off x="3439911" y="8324813"/>
            <a:ext cx="3612694" cy="1063625"/>
          </a:xfrm>
          <a:prstGeom prst="rect">
            <a:avLst/>
          </a:prstGeom>
        </p:spPr>
        <p:txBody>
          <a:bodyPr anchor="t" rtlCol="false" tIns="0" lIns="0" bIns="0" rIns="0">
            <a:spAutoFit/>
          </a:bodyPr>
          <a:lstStyle/>
          <a:p>
            <a:pPr algn="l" marL="0" indent="0" lvl="0">
              <a:lnSpc>
                <a:spcPts val="2800"/>
              </a:lnSpc>
              <a:spcBef>
                <a:spcPct val="0"/>
              </a:spcBef>
            </a:pPr>
            <a:r>
              <a:rPr lang="en-US" b="true" sz="2000">
                <a:solidFill>
                  <a:srgbClr val="F1F5F9"/>
                </a:solidFill>
                <a:latin typeface="Raleway Bold"/>
                <a:ea typeface="Raleway Bold"/>
                <a:cs typeface="Raleway Bold"/>
                <a:sym typeface="Raleway Bold"/>
              </a:rPr>
              <a:t>NestJS: </a:t>
            </a:r>
            <a:r>
              <a:rPr lang="en-US" b="true" sz="2000">
                <a:solidFill>
                  <a:srgbClr val="F1F5F9"/>
                </a:solidFill>
                <a:latin typeface="Raleway Bold"/>
                <a:ea typeface="Raleway Bold"/>
                <a:cs typeface="Raleway Bold"/>
                <a:sym typeface="Raleway Bold"/>
              </a:rPr>
              <a:t>Para un</a:t>
            </a:r>
            <a:r>
              <a:rPr lang="en-US" b="true" sz="2000" strike="noStrike" u="none">
                <a:solidFill>
                  <a:srgbClr val="F1F5F9"/>
                </a:solidFill>
                <a:latin typeface="Raleway Bold"/>
                <a:ea typeface="Raleway Bold"/>
                <a:cs typeface="Raleway Bold"/>
                <a:sym typeface="Raleway Bold"/>
              </a:rPr>
              <a:t>a arquitectura robusta, modular y escalable.</a:t>
            </a:r>
          </a:p>
        </p:txBody>
      </p:sp>
      <p:sp>
        <p:nvSpPr>
          <p:cNvPr name="TextBox 19" id="19"/>
          <p:cNvSpPr txBox="true"/>
          <p:nvPr/>
        </p:nvSpPr>
        <p:spPr>
          <a:xfrm rot="0">
            <a:off x="7538046" y="8324813"/>
            <a:ext cx="3612694" cy="1063625"/>
          </a:xfrm>
          <a:prstGeom prst="rect">
            <a:avLst/>
          </a:prstGeom>
        </p:spPr>
        <p:txBody>
          <a:bodyPr anchor="t" rtlCol="false" tIns="0" lIns="0" bIns="0" rIns="0">
            <a:spAutoFit/>
          </a:bodyPr>
          <a:lstStyle/>
          <a:p>
            <a:pPr algn="l" marL="0" indent="0" lvl="0">
              <a:lnSpc>
                <a:spcPts val="2800"/>
              </a:lnSpc>
              <a:spcBef>
                <a:spcPct val="0"/>
              </a:spcBef>
            </a:pPr>
            <a:r>
              <a:rPr lang="en-US" b="true" sz="2000">
                <a:solidFill>
                  <a:srgbClr val="F1F5F9"/>
                </a:solidFill>
                <a:latin typeface="Raleway Bold"/>
                <a:ea typeface="Raleway Bold"/>
                <a:cs typeface="Raleway Bold"/>
                <a:sym typeface="Raleway Bold"/>
              </a:rPr>
              <a:t>OAuth 2.0: A</a:t>
            </a:r>
            <a:r>
              <a:rPr lang="en-US" b="true" sz="2000">
                <a:solidFill>
                  <a:srgbClr val="F1F5F9"/>
                </a:solidFill>
                <a:latin typeface="Raleway Bold"/>
                <a:ea typeface="Raleway Bold"/>
                <a:cs typeface="Raleway Bold"/>
                <a:sym typeface="Raleway Bold"/>
              </a:rPr>
              <a:t>utentic</a:t>
            </a:r>
            <a:r>
              <a:rPr lang="en-US" b="true" sz="2000" strike="noStrike" u="none">
                <a:solidFill>
                  <a:srgbClr val="F1F5F9"/>
                </a:solidFill>
                <a:latin typeface="Raleway Bold"/>
                <a:ea typeface="Raleway Bold"/>
                <a:cs typeface="Raleway Bold"/>
                <a:sym typeface="Raleway Bold"/>
              </a:rPr>
              <a:t>ación real y segura con Discord y Google. </a:t>
            </a:r>
          </a:p>
        </p:txBody>
      </p:sp>
      <p:sp>
        <p:nvSpPr>
          <p:cNvPr name="TextBox 20" id="20"/>
          <p:cNvSpPr txBox="true"/>
          <p:nvPr/>
        </p:nvSpPr>
        <p:spPr>
          <a:xfrm rot="0">
            <a:off x="12213950" y="8324813"/>
            <a:ext cx="3612694" cy="1063625"/>
          </a:xfrm>
          <a:prstGeom prst="rect">
            <a:avLst/>
          </a:prstGeom>
        </p:spPr>
        <p:txBody>
          <a:bodyPr anchor="t" rtlCol="false" tIns="0" lIns="0" bIns="0" rIns="0">
            <a:spAutoFit/>
          </a:bodyPr>
          <a:lstStyle/>
          <a:p>
            <a:pPr algn="l" marL="0" indent="0" lvl="0">
              <a:lnSpc>
                <a:spcPts val="2800"/>
              </a:lnSpc>
              <a:spcBef>
                <a:spcPct val="0"/>
              </a:spcBef>
            </a:pPr>
            <a:r>
              <a:rPr lang="en-US" b="true" sz="2000">
                <a:solidFill>
                  <a:srgbClr val="F1F5F9"/>
                </a:solidFill>
                <a:latin typeface="Raleway Bold"/>
                <a:ea typeface="Raleway Bold"/>
                <a:cs typeface="Raleway Bold"/>
                <a:sym typeface="Raleway Bold"/>
              </a:rPr>
              <a:t>Patrón CQRS: Para op</a:t>
            </a:r>
            <a:r>
              <a:rPr lang="en-US" b="true" sz="2000">
                <a:solidFill>
                  <a:srgbClr val="F1F5F9"/>
                </a:solidFill>
                <a:latin typeface="Raleway Bold"/>
                <a:ea typeface="Raleway Bold"/>
                <a:cs typeface="Raleway Bold"/>
                <a:sym typeface="Raleway Bold"/>
              </a:rPr>
              <a:t>timiz</a:t>
            </a:r>
            <a:r>
              <a:rPr lang="en-US" b="true" sz="2000" strike="noStrike" u="none">
                <a:solidFill>
                  <a:srgbClr val="F1F5F9"/>
                </a:solidFill>
                <a:latin typeface="Raleway Bold"/>
                <a:ea typeface="Raleway Bold"/>
                <a:cs typeface="Raleway Bold"/>
                <a:sym typeface="Raleway Bold"/>
              </a:rPr>
              <a:t>ar el rendimiento separando lecturas y escrituras.</a:t>
            </a:r>
          </a:p>
        </p:txBody>
      </p:sp>
      <p:sp>
        <p:nvSpPr>
          <p:cNvPr name="Freeform 21" id="21"/>
          <p:cNvSpPr/>
          <p:nvPr/>
        </p:nvSpPr>
        <p:spPr>
          <a:xfrm flipH="false" flipV="false" rot="0">
            <a:off x="2682016" y="2499840"/>
            <a:ext cx="1807861" cy="2064200"/>
          </a:xfrm>
          <a:custGeom>
            <a:avLst/>
            <a:gdLst/>
            <a:ahLst/>
            <a:cxnLst/>
            <a:rect r="r" b="b" t="t" l="l"/>
            <a:pathLst>
              <a:path h="2064200" w="1807861">
                <a:moveTo>
                  <a:pt x="0" y="0"/>
                </a:moveTo>
                <a:lnTo>
                  <a:pt x="1807861" y="0"/>
                </a:lnTo>
                <a:lnTo>
                  <a:pt x="1807861" y="2064200"/>
                </a:lnTo>
                <a:lnTo>
                  <a:pt x="0" y="2064200"/>
                </a:lnTo>
                <a:lnTo>
                  <a:pt x="0" y="0"/>
                </a:lnTo>
                <a:close/>
              </a:path>
            </a:pathLst>
          </a:custGeom>
          <a:blipFill>
            <a:blip r:embed="rId8"/>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1827"/>
        </a:solidFill>
      </p:bgPr>
    </p:bg>
    <p:spTree>
      <p:nvGrpSpPr>
        <p:cNvPr id="1" name=""/>
        <p:cNvGrpSpPr/>
        <p:nvPr/>
      </p:nvGrpSpPr>
      <p:grpSpPr>
        <a:xfrm>
          <a:off x="0" y="0"/>
          <a:ext cx="0" cy="0"/>
          <a:chOff x="0" y="0"/>
          <a:chExt cx="0" cy="0"/>
        </a:xfrm>
      </p:grpSpPr>
      <p:sp>
        <p:nvSpPr>
          <p:cNvPr name="TextBox 2" id="2"/>
          <p:cNvSpPr txBox="true"/>
          <p:nvPr/>
        </p:nvSpPr>
        <p:spPr>
          <a:xfrm rot="-5400000">
            <a:off x="-391982" y="3100612"/>
            <a:ext cx="3035036" cy="441324"/>
          </a:xfrm>
          <a:prstGeom prst="rect">
            <a:avLst/>
          </a:prstGeom>
        </p:spPr>
        <p:txBody>
          <a:bodyPr anchor="t" rtlCol="false" tIns="0" lIns="0" bIns="0" rIns="0">
            <a:spAutoFit/>
          </a:bodyPr>
          <a:lstStyle/>
          <a:p>
            <a:pPr algn="r">
              <a:lnSpc>
                <a:spcPts val="3500"/>
              </a:lnSpc>
              <a:spcBef>
                <a:spcPct val="0"/>
              </a:spcBef>
            </a:pPr>
            <a:r>
              <a:rPr lang="en-US" sz="2500" spc="297">
                <a:solidFill>
                  <a:srgbClr val="F1F5F9"/>
                </a:solidFill>
                <a:latin typeface="Raleway"/>
                <a:ea typeface="Raleway"/>
                <a:cs typeface="Raleway"/>
                <a:sym typeface="Raleway"/>
              </a:rPr>
              <a:t>OPTARYS</a:t>
            </a:r>
          </a:p>
        </p:txBody>
      </p:sp>
      <p:sp>
        <p:nvSpPr>
          <p:cNvPr name="AutoShape 3" id="3"/>
          <p:cNvSpPr/>
          <p:nvPr/>
        </p:nvSpPr>
        <p:spPr>
          <a:xfrm flipV="true">
            <a:off x="1158875" y="3740410"/>
            <a:ext cx="0" cy="5517890"/>
          </a:xfrm>
          <a:prstGeom prst="line">
            <a:avLst/>
          </a:prstGeom>
          <a:ln cap="flat" w="38100">
            <a:solidFill>
              <a:srgbClr val="F1F5F9"/>
            </a:solidFill>
            <a:prstDash val="solid"/>
            <a:headEnd type="none" len="sm" w="sm"/>
            <a:tailEnd type="none" len="sm" w="sm"/>
          </a:ln>
        </p:spPr>
      </p:sp>
      <p:sp>
        <p:nvSpPr>
          <p:cNvPr name="Freeform 4" id="4"/>
          <p:cNvSpPr/>
          <p:nvPr/>
        </p:nvSpPr>
        <p:spPr>
          <a:xfrm flipH="false" flipV="false" rot="0">
            <a:off x="16632888" y="353644"/>
            <a:ext cx="1252825" cy="1252825"/>
          </a:xfrm>
          <a:custGeom>
            <a:avLst/>
            <a:gdLst/>
            <a:ahLst/>
            <a:cxnLst/>
            <a:rect r="r" b="b" t="t" l="l"/>
            <a:pathLst>
              <a:path h="1252825" w="1252825">
                <a:moveTo>
                  <a:pt x="0" y="0"/>
                </a:moveTo>
                <a:lnTo>
                  <a:pt x="1252824" y="0"/>
                </a:lnTo>
                <a:lnTo>
                  <a:pt x="1252824" y="1252824"/>
                </a:lnTo>
                <a:lnTo>
                  <a:pt x="0" y="1252824"/>
                </a:lnTo>
                <a:lnTo>
                  <a:pt x="0" y="0"/>
                </a:lnTo>
                <a:close/>
              </a:path>
            </a:pathLst>
          </a:custGeom>
          <a:blipFill>
            <a:blip r:embed="rId2"/>
            <a:stretch>
              <a:fillRect l="0" t="0" r="0" b="0"/>
            </a:stretch>
          </a:blipFill>
        </p:spPr>
      </p:sp>
      <p:sp>
        <p:nvSpPr>
          <p:cNvPr name="Freeform 5" id="5"/>
          <p:cNvSpPr/>
          <p:nvPr/>
        </p:nvSpPr>
        <p:spPr>
          <a:xfrm flipH="false" flipV="false" rot="0">
            <a:off x="15560428" y="7950373"/>
            <a:ext cx="1601361" cy="1774642"/>
          </a:xfrm>
          <a:custGeom>
            <a:avLst/>
            <a:gdLst/>
            <a:ahLst/>
            <a:cxnLst/>
            <a:rect r="r" b="b" t="t" l="l"/>
            <a:pathLst>
              <a:path h="1774642" w="1601361">
                <a:moveTo>
                  <a:pt x="0" y="0"/>
                </a:moveTo>
                <a:lnTo>
                  <a:pt x="1601361" y="0"/>
                </a:lnTo>
                <a:lnTo>
                  <a:pt x="1601361" y="1774642"/>
                </a:lnTo>
                <a:lnTo>
                  <a:pt x="0" y="1774642"/>
                </a:lnTo>
                <a:lnTo>
                  <a:pt x="0" y="0"/>
                </a:lnTo>
                <a:close/>
              </a:path>
            </a:pathLst>
          </a:custGeom>
          <a:blipFill>
            <a:blip r:embed="rId3"/>
            <a:stretch>
              <a:fillRect l="0" t="0" r="0" b="0"/>
            </a:stretch>
          </a:blipFill>
        </p:spPr>
      </p:sp>
      <p:sp>
        <p:nvSpPr>
          <p:cNvPr name="Freeform 6" id="6"/>
          <p:cNvSpPr/>
          <p:nvPr/>
        </p:nvSpPr>
        <p:spPr>
          <a:xfrm flipH="false" flipV="false" rot="0">
            <a:off x="4239803" y="2451096"/>
            <a:ext cx="10005681" cy="6666285"/>
          </a:xfrm>
          <a:custGeom>
            <a:avLst/>
            <a:gdLst/>
            <a:ahLst/>
            <a:cxnLst/>
            <a:rect r="r" b="b" t="t" l="l"/>
            <a:pathLst>
              <a:path h="6666285" w="10005681">
                <a:moveTo>
                  <a:pt x="0" y="0"/>
                </a:moveTo>
                <a:lnTo>
                  <a:pt x="10005681" y="0"/>
                </a:lnTo>
                <a:lnTo>
                  <a:pt x="10005681" y="6666285"/>
                </a:lnTo>
                <a:lnTo>
                  <a:pt x="0" y="6666285"/>
                </a:lnTo>
                <a:lnTo>
                  <a:pt x="0" y="0"/>
                </a:lnTo>
                <a:close/>
              </a:path>
            </a:pathLst>
          </a:custGeom>
          <a:blipFill>
            <a:blip r:embed="rId4"/>
            <a:stretch>
              <a:fillRect l="0" t="0" r="0" b="0"/>
            </a:stretch>
          </a:blipFill>
        </p:spPr>
      </p:sp>
      <p:sp>
        <p:nvSpPr>
          <p:cNvPr name="TextBox 7" id="7"/>
          <p:cNvSpPr txBox="true"/>
          <p:nvPr/>
        </p:nvSpPr>
        <p:spPr>
          <a:xfrm rot="0">
            <a:off x="584819" y="1383411"/>
            <a:ext cx="8559181" cy="719359"/>
          </a:xfrm>
          <a:prstGeom prst="rect">
            <a:avLst/>
          </a:prstGeom>
        </p:spPr>
        <p:txBody>
          <a:bodyPr anchor="t" rtlCol="false" tIns="0" lIns="0" bIns="0" rIns="0">
            <a:spAutoFit/>
          </a:bodyPr>
          <a:lstStyle/>
          <a:p>
            <a:pPr algn="ctr" marL="0" indent="0" lvl="1">
              <a:lnSpc>
                <a:spcPts val="5321"/>
              </a:lnSpc>
              <a:spcBef>
                <a:spcPct val="0"/>
              </a:spcBef>
            </a:pPr>
            <a:r>
              <a:rPr lang="en-US" b="true" sz="5375">
                <a:solidFill>
                  <a:srgbClr val="F1F5F9"/>
                </a:solidFill>
                <a:latin typeface="Raleway Bold"/>
                <a:ea typeface="Raleway Bold"/>
                <a:cs typeface="Raleway Bold"/>
                <a:sym typeface="Raleway Bold"/>
              </a:rPr>
              <a:t>Flujos</a:t>
            </a:r>
            <a:r>
              <a:rPr lang="en-US" b="true" sz="5375">
                <a:solidFill>
                  <a:srgbClr val="F1F5F9"/>
                </a:solidFill>
                <a:latin typeface="Raleway Bold"/>
                <a:ea typeface="Raleway Bold"/>
                <a:cs typeface="Raleway Bold"/>
                <a:sym typeface="Raleway Bold"/>
              </a:rPr>
              <a:t> Principales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11827"/>
        </a:solidFill>
      </p:bgPr>
    </p:bg>
    <p:spTree>
      <p:nvGrpSpPr>
        <p:cNvPr id="1" name=""/>
        <p:cNvGrpSpPr/>
        <p:nvPr/>
      </p:nvGrpSpPr>
      <p:grpSpPr>
        <a:xfrm>
          <a:off x="0" y="0"/>
          <a:ext cx="0" cy="0"/>
          <a:chOff x="0" y="0"/>
          <a:chExt cx="0" cy="0"/>
        </a:xfrm>
      </p:grpSpPr>
      <p:sp>
        <p:nvSpPr>
          <p:cNvPr name="TextBox 2" id="2"/>
          <p:cNvSpPr txBox="true"/>
          <p:nvPr/>
        </p:nvSpPr>
        <p:spPr>
          <a:xfrm rot="-5400000">
            <a:off x="-391982" y="3117384"/>
            <a:ext cx="3035036" cy="441324"/>
          </a:xfrm>
          <a:prstGeom prst="rect">
            <a:avLst/>
          </a:prstGeom>
        </p:spPr>
        <p:txBody>
          <a:bodyPr anchor="t" rtlCol="false" tIns="0" lIns="0" bIns="0" rIns="0">
            <a:spAutoFit/>
          </a:bodyPr>
          <a:lstStyle/>
          <a:p>
            <a:pPr algn="r">
              <a:lnSpc>
                <a:spcPts val="3500"/>
              </a:lnSpc>
              <a:spcBef>
                <a:spcPct val="0"/>
              </a:spcBef>
            </a:pPr>
            <a:r>
              <a:rPr lang="en-US" sz="2500" spc="297">
                <a:solidFill>
                  <a:srgbClr val="F1F5F9"/>
                </a:solidFill>
                <a:latin typeface="Raleway"/>
                <a:ea typeface="Raleway"/>
                <a:cs typeface="Raleway"/>
                <a:sym typeface="Raleway"/>
              </a:rPr>
              <a:t>OPTARYS</a:t>
            </a:r>
          </a:p>
        </p:txBody>
      </p:sp>
      <p:sp>
        <p:nvSpPr>
          <p:cNvPr name="AutoShape 3" id="3"/>
          <p:cNvSpPr/>
          <p:nvPr/>
        </p:nvSpPr>
        <p:spPr>
          <a:xfrm flipV="true">
            <a:off x="1158875" y="3740410"/>
            <a:ext cx="0" cy="5517890"/>
          </a:xfrm>
          <a:prstGeom prst="line">
            <a:avLst/>
          </a:prstGeom>
          <a:ln cap="flat" w="38100">
            <a:solidFill>
              <a:srgbClr val="F1F5F9"/>
            </a:solidFill>
            <a:prstDash val="solid"/>
            <a:headEnd type="none" len="sm" w="sm"/>
            <a:tailEnd type="none" len="sm" w="sm"/>
          </a:ln>
        </p:spPr>
      </p:sp>
      <p:grpSp>
        <p:nvGrpSpPr>
          <p:cNvPr name="Group 4" id="4"/>
          <p:cNvGrpSpPr/>
          <p:nvPr/>
        </p:nvGrpSpPr>
        <p:grpSpPr>
          <a:xfrm rot="0">
            <a:off x="9934905" y="0"/>
            <a:ext cx="8353095" cy="10287000"/>
            <a:chOff x="0" y="0"/>
            <a:chExt cx="2199992" cy="2709333"/>
          </a:xfrm>
        </p:grpSpPr>
        <p:sp>
          <p:nvSpPr>
            <p:cNvPr name="Freeform 5" id="5"/>
            <p:cNvSpPr/>
            <p:nvPr/>
          </p:nvSpPr>
          <p:spPr>
            <a:xfrm flipH="false" flipV="false" rot="0">
              <a:off x="0" y="0"/>
              <a:ext cx="2199992" cy="2709333"/>
            </a:xfrm>
            <a:custGeom>
              <a:avLst/>
              <a:gdLst/>
              <a:ahLst/>
              <a:cxnLst/>
              <a:rect r="r" b="b" t="t" l="l"/>
              <a:pathLst>
                <a:path h="2709333" w="2199992">
                  <a:moveTo>
                    <a:pt x="0" y="0"/>
                  </a:moveTo>
                  <a:lnTo>
                    <a:pt x="2199992" y="0"/>
                  </a:lnTo>
                  <a:lnTo>
                    <a:pt x="2199992" y="2709333"/>
                  </a:lnTo>
                  <a:lnTo>
                    <a:pt x="0" y="2709333"/>
                  </a:lnTo>
                  <a:close/>
                </a:path>
              </a:pathLst>
            </a:custGeom>
            <a:solidFill>
              <a:srgbClr val="F1F5F9"/>
            </a:solidFill>
          </p:spPr>
        </p:sp>
        <p:sp>
          <p:nvSpPr>
            <p:cNvPr name="TextBox 6" id="6"/>
            <p:cNvSpPr txBox="true"/>
            <p:nvPr/>
          </p:nvSpPr>
          <p:spPr>
            <a:xfrm>
              <a:off x="0" y="-66675"/>
              <a:ext cx="2199992" cy="2776008"/>
            </a:xfrm>
            <a:prstGeom prst="rect">
              <a:avLst/>
            </a:prstGeom>
          </p:spPr>
          <p:txBody>
            <a:bodyPr anchor="ctr" rtlCol="false" tIns="50800" lIns="50800" bIns="50800" rIns="50800"/>
            <a:lstStyle/>
            <a:p>
              <a:pPr algn="ctr">
                <a:lnSpc>
                  <a:spcPts val="3500"/>
                </a:lnSpc>
              </a:pPr>
            </a:p>
          </p:txBody>
        </p:sp>
      </p:grpSp>
      <p:grpSp>
        <p:nvGrpSpPr>
          <p:cNvPr name="Group 7" id="7"/>
          <p:cNvGrpSpPr>
            <a:grpSpLocks noChangeAspect="true"/>
          </p:cNvGrpSpPr>
          <p:nvPr/>
        </p:nvGrpSpPr>
        <p:grpSpPr>
          <a:xfrm rot="0">
            <a:off x="8727147" y="1028700"/>
            <a:ext cx="2415517" cy="2415508"/>
            <a:chOff x="0" y="0"/>
            <a:chExt cx="6350025" cy="6350000"/>
          </a:xfrm>
        </p:grpSpPr>
        <p:sp>
          <p:nvSpPr>
            <p:cNvPr name="Freeform 8" id="8"/>
            <p:cNvSpPr/>
            <p:nvPr/>
          </p:nvSpPr>
          <p:spPr>
            <a:xfrm flipH="false" flipV="false" rot="0">
              <a:off x="0" y="0"/>
              <a:ext cx="6350026" cy="6350000"/>
            </a:xfrm>
            <a:custGeom>
              <a:avLst/>
              <a:gdLst/>
              <a:ahLst/>
              <a:cxnLst/>
              <a:rect r="r" b="b" t="t" l="l"/>
              <a:pathLst>
                <a:path h="6350000" w="6350026">
                  <a:moveTo>
                    <a:pt x="0" y="0"/>
                  </a:moveTo>
                  <a:lnTo>
                    <a:pt x="6350026" y="0"/>
                  </a:lnTo>
                  <a:lnTo>
                    <a:pt x="6350026" y="6350000"/>
                  </a:lnTo>
                  <a:lnTo>
                    <a:pt x="0" y="6350000"/>
                  </a:lnTo>
                  <a:close/>
                </a:path>
              </a:pathLst>
            </a:custGeom>
            <a:blipFill>
              <a:blip r:embed="rId2"/>
              <a:stretch>
                <a:fillRect l="0" t="-16747" r="0" b="-16747"/>
              </a:stretch>
            </a:blipFill>
          </p:spPr>
        </p:sp>
      </p:grpSp>
      <p:grpSp>
        <p:nvGrpSpPr>
          <p:cNvPr name="Group 9" id="9"/>
          <p:cNvGrpSpPr>
            <a:grpSpLocks noChangeAspect="true"/>
          </p:cNvGrpSpPr>
          <p:nvPr/>
        </p:nvGrpSpPr>
        <p:grpSpPr>
          <a:xfrm rot="0">
            <a:off x="8727147" y="3935746"/>
            <a:ext cx="2415517" cy="2415508"/>
            <a:chOff x="0" y="0"/>
            <a:chExt cx="6350025" cy="6350000"/>
          </a:xfrm>
        </p:grpSpPr>
        <p:sp>
          <p:nvSpPr>
            <p:cNvPr name="Freeform 10" id="10"/>
            <p:cNvSpPr/>
            <p:nvPr/>
          </p:nvSpPr>
          <p:spPr>
            <a:xfrm flipH="false" flipV="false" rot="0">
              <a:off x="0" y="0"/>
              <a:ext cx="6350026" cy="6350000"/>
            </a:xfrm>
            <a:custGeom>
              <a:avLst/>
              <a:gdLst/>
              <a:ahLst/>
              <a:cxnLst/>
              <a:rect r="r" b="b" t="t" l="l"/>
              <a:pathLst>
                <a:path h="6350000" w="6350026">
                  <a:moveTo>
                    <a:pt x="0" y="0"/>
                  </a:moveTo>
                  <a:lnTo>
                    <a:pt x="6350026" y="0"/>
                  </a:lnTo>
                  <a:lnTo>
                    <a:pt x="6350026" y="6350000"/>
                  </a:lnTo>
                  <a:lnTo>
                    <a:pt x="0" y="6350000"/>
                  </a:lnTo>
                  <a:close/>
                </a:path>
              </a:pathLst>
            </a:custGeom>
            <a:blipFill>
              <a:blip r:embed="rId3"/>
              <a:stretch>
                <a:fillRect l="0" t="-21059" r="0" b="-21059"/>
              </a:stretch>
            </a:blipFill>
          </p:spPr>
        </p:sp>
      </p:grpSp>
      <p:grpSp>
        <p:nvGrpSpPr>
          <p:cNvPr name="Group 11" id="11"/>
          <p:cNvGrpSpPr>
            <a:grpSpLocks noChangeAspect="true"/>
          </p:cNvGrpSpPr>
          <p:nvPr/>
        </p:nvGrpSpPr>
        <p:grpSpPr>
          <a:xfrm rot="0">
            <a:off x="8727147" y="6842792"/>
            <a:ext cx="2415517" cy="2415508"/>
            <a:chOff x="0" y="0"/>
            <a:chExt cx="6350025" cy="6350000"/>
          </a:xfrm>
        </p:grpSpPr>
        <p:sp>
          <p:nvSpPr>
            <p:cNvPr name="Freeform 12" id="12"/>
            <p:cNvSpPr/>
            <p:nvPr/>
          </p:nvSpPr>
          <p:spPr>
            <a:xfrm flipH="false" flipV="false" rot="0">
              <a:off x="0" y="0"/>
              <a:ext cx="6350026" cy="6350000"/>
            </a:xfrm>
            <a:custGeom>
              <a:avLst/>
              <a:gdLst/>
              <a:ahLst/>
              <a:cxnLst/>
              <a:rect r="r" b="b" t="t" l="l"/>
              <a:pathLst>
                <a:path h="6350000" w="6350026">
                  <a:moveTo>
                    <a:pt x="0" y="0"/>
                  </a:moveTo>
                  <a:lnTo>
                    <a:pt x="6350026" y="0"/>
                  </a:lnTo>
                  <a:lnTo>
                    <a:pt x="6350026" y="6350000"/>
                  </a:lnTo>
                  <a:lnTo>
                    <a:pt x="0" y="6350000"/>
                  </a:lnTo>
                  <a:close/>
                </a:path>
              </a:pathLst>
            </a:custGeom>
            <a:blipFill>
              <a:blip r:embed="rId4"/>
              <a:stretch>
                <a:fillRect l="0" t="0" r="0" b="0"/>
              </a:stretch>
            </a:blipFill>
          </p:spPr>
        </p:sp>
      </p:grpSp>
      <p:sp>
        <p:nvSpPr>
          <p:cNvPr name="Freeform 13" id="13"/>
          <p:cNvSpPr/>
          <p:nvPr/>
        </p:nvSpPr>
        <p:spPr>
          <a:xfrm flipH="false" flipV="false" rot="0">
            <a:off x="16632888" y="353644"/>
            <a:ext cx="1252825" cy="1252825"/>
          </a:xfrm>
          <a:custGeom>
            <a:avLst/>
            <a:gdLst/>
            <a:ahLst/>
            <a:cxnLst/>
            <a:rect r="r" b="b" t="t" l="l"/>
            <a:pathLst>
              <a:path h="1252825" w="1252825">
                <a:moveTo>
                  <a:pt x="0" y="0"/>
                </a:moveTo>
                <a:lnTo>
                  <a:pt x="1252824" y="0"/>
                </a:lnTo>
                <a:lnTo>
                  <a:pt x="1252824" y="1252824"/>
                </a:lnTo>
                <a:lnTo>
                  <a:pt x="0" y="1252824"/>
                </a:lnTo>
                <a:lnTo>
                  <a:pt x="0" y="0"/>
                </a:lnTo>
                <a:close/>
              </a:path>
            </a:pathLst>
          </a:custGeom>
          <a:blipFill>
            <a:blip r:embed="rId5"/>
            <a:stretch>
              <a:fillRect l="0" t="0" r="0" b="0"/>
            </a:stretch>
          </a:blipFill>
        </p:spPr>
      </p:sp>
      <p:sp>
        <p:nvSpPr>
          <p:cNvPr name="Freeform 14" id="14"/>
          <p:cNvSpPr/>
          <p:nvPr/>
        </p:nvSpPr>
        <p:spPr>
          <a:xfrm flipH="false" flipV="false" rot="0">
            <a:off x="3566905" y="471248"/>
            <a:ext cx="2531640" cy="2698561"/>
          </a:xfrm>
          <a:custGeom>
            <a:avLst/>
            <a:gdLst/>
            <a:ahLst/>
            <a:cxnLst/>
            <a:rect r="r" b="b" t="t" l="l"/>
            <a:pathLst>
              <a:path h="2698561" w="2531640">
                <a:moveTo>
                  <a:pt x="0" y="0"/>
                </a:moveTo>
                <a:lnTo>
                  <a:pt x="2531640" y="0"/>
                </a:lnTo>
                <a:lnTo>
                  <a:pt x="2531640" y="2698561"/>
                </a:lnTo>
                <a:lnTo>
                  <a:pt x="0" y="2698561"/>
                </a:lnTo>
                <a:lnTo>
                  <a:pt x="0" y="0"/>
                </a:lnTo>
                <a:close/>
              </a:path>
            </a:pathLst>
          </a:custGeom>
          <a:blipFill>
            <a:blip r:embed="rId6"/>
            <a:stretch>
              <a:fillRect l="0" t="0" r="0" b="0"/>
            </a:stretch>
          </a:blipFill>
        </p:spPr>
      </p:sp>
      <p:sp>
        <p:nvSpPr>
          <p:cNvPr name="TextBox 15" id="15"/>
          <p:cNvSpPr txBox="true"/>
          <p:nvPr/>
        </p:nvSpPr>
        <p:spPr>
          <a:xfrm rot="0">
            <a:off x="1941384" y="3650002"/>
            <a:ext cx="5973228" cy="428244"/>
          </a:xfrm>
          <a:prstGeom prst="rect">
            <a:avLst/>
          </a:prstGeom>
        </p:spPr>
        <p:txBody>
          <a:bodyPr anchor="t" rtlCol="false" tIns="0" lIns="0" bIns="0" rIns="0">
            <a:spAutoFit/>
          </a:bodyPr>
          <a:lstStyle/>
          <a:p>
            <a:pPr algn="l" marL="0" indent="0" lvl="1">
              <a:lnSpc>
                <a:spcPts val="3168"/>
              </a:lnSpc>
              <a:spcBef>
                <a:spcPct val="0"/>
              </a:spcBef>
            </a:pPr>
            <a:r>
              <a:rPr lang="en-US" b="true" sz="3200">
                <a:solidFill>
                  <a:srgbClr val="F1F5F9"/>
                </a:solidFill>
                <a:latin typeface="Raleway Bold"/>
                <a:ea typeface="Raleway Bold"/>
                <a:cs typeface="Raleway Bold"/>
                <a:sym typeface="Raleway Bold"/>
              </a:rPr>
              <a:t>El </a:t>
            </a:r>
            <a:r>
              <a:rPr lang="en-US" b="true" sz="3200">
                <a:solidFill>
                  <a:srgbClr val="F1F5F9"/>
                </a:solidFill>
                <a:latin typeface="Raleway Bold"/>
                <a:ea typeface="Raleway Bold"/>
                <a:cs typeface="Raleway Bold"/>
                <a:sym typeface="Raleway Bold"/>
              </a:rPr>
              <a:t>Equipo Detrás del Código</a:t>
            </a:r>
          </a:p>
        </p:txBody>
      </p:sp>
      <p:sp>
        <p:nvSpPr>
          <p:cNvPr name="TextBox 16" id="16"/>
          <p:cNvSpPr txBox="true"/>
          <p:nvPr/>
        </p:nvSpPr>
        <p:spPr>
          <a:xfrm rot="0">
            <a:off x="1941384" y="4670425"/>
            <a:ext cx="6170515" cy="2825750"/>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1F5F9"/>
                </a:solidFill>
                <a:latin typeface="Raleway"/>
                <a:ea typeface="Raleway"/>
                <a:cs typeface="Raleway"/>
                <a:sym typeface="Raleway"/>
              </a:rPr>
              <a:t>So</a:t>
            </a:r>
            <a:r>
              <a:rPr lang="en-US" sz="2000" strike="noStrike" u="none">
                <a:solidFill>
                  <a:srgbClr val="F1F5F9"/>
                </a:solidFill>
                <a:latin typeface="Raleway"/>
                <a:ea typeface="Raleway"/>
                <a:cs typeface="Raleway"/>
                <a:sym typeface="Raleway"/>
              </a:rPr>
              <a:t>mos Optarys, un equipo multidisciplinario y colaborativo, unidos para afrontar el Code Quest 2025. Con roles especializados que cubren desde la arquitectura backend hasta el diseño de la experiencia de usuario, nuestra fortaleza radica en la comunicación constante y en el compromiso compartido de construir una solución de alta calidad para la comunidad de DevTalles.</a:t>
            </a:r>
          </a:p>
        </p:txBody>
      </p:sp>
      <p:sp>
        <p:nvSpPr>
          <p:cNvPr name="TextBox 17" id="17"/>
          <p:cNvSpPr txBox="true"/>
          <p:nvPr/>
        </p:nvSpPr>
        <p:spPr>
          <a:xfrm rot="0">
            <a:off x="11888907" y="1744329"/>
            <a:ext cx="4341682" cy="606426"/>
          </a:xfrm>
          <a:prstGeom prst="rect">
            <a:avLst/>
          </a:prstGeom>
        </p:spPr>
        <p:txBody>
          <a:bodyPr anchor="t" rtlCol="false" tIns="0" lIns="0" bIns="0" rIns="0">
            <a:spAutoFit/>
          </a:bodyPr>
          <a:lstStyle/>
          <a:p>
            <a:pPr algn="l" marL="0" indent="0" lvl="0">
              <a:lnSpc>
                <a:spcPts val="4899"/>
              </a:lnSpc>
              <a:spcBef>
                <a:spcPct val="0"/>
              </a:spcBef>
            </a:pPr>
            <a:r>
              <a:rPr lang="en-US" b="true" sz="3499">
                <a:solidFill>
                  <a:srgbClr val="111827"/>
                </a:solidFill>
                <a:latin typeface="Raleway Bold"/>
                <a:ea typeface="Raleway Bold"/>
                <a:cs typeface="Raleway Bold"/>
                <a:sym typeface="Raleway Bold"/>
              </a:rPr>
              <a:t>Johanssen Roque</a:t>
            </a:r>
          </a:p>
        </p:txBody>
      </p:sp>
      <p:sp>
        <p:nvSpPr>
          <p:cNvPr name="TextBox 18" id="18"/>
          <p:cNvSpPr txBox="true"/>
          <p:nvPr/>
        </p:nvSpPr>
        <p:spPr>
          <a:xfrm rot="0">
            <a:off x="11888907" y="4651375"/>
            <a:ext cx="4341682" cy="606426"/>
          </a:xfrm>
          <a:prstGeom prst="rect">
            <a:avLst/>
          </a:prstGeom>
        </p:spPr>
        <p:txBody>
          <a:bodyPr anchor="t" rtlCol="false" tIns="0" lIns="0" bIns="0" rIns="0">
            <a:spAutoFit/>
          </a:bodyPr>
          <a:lstStyle/>
          <a:p>
            <a:pPr algn="l" marL="0" indent="0" lvl="0">
              <a:lnSpc>
                <a:spcPts val="4899"/>
              </a:lnSpc>
              <a:spcBef>
                <a:spcPct val="0"/>
              </a:spcBef>
            </a:pPr>
            <a:r>
              <a:rPr lang="en-US" b="true" sz="3499">
                <a:solidFill>
                  <a:srgbClr val="111827"/>
                </a:solidFill>
                <a:latin typeface="Raleway Bold"/>
                <a:ea typeface="Raleway Bold"/>
                <a:cs typeface="Raleway Bold"/>
                <a:sym typeface="Raleway Bold"/>
              </a:rPr>
              <a:t>Kevin Ortiz</a:t>
            </a:r>
          </a:p>
        </p:txBody>
      </p:sp>
      <p:sp>
        <p:nvSpPr>
          <p:cNvPr name="TextBox 19" id="19"/>
          <p:cNvSpPr txBox="true"/>
          <p:nvPr/>
        </p:nvSpPr>
        <p:spPr>
          <a:xfrm rot="0">
            <a:off x="11888907" y="2293604"/>
            <a:ext cx="4341682" cy="35877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111827"/>
                </a:solidFill>
                <a:latin typeface="Raleway"/>
                <a:ea typeface="Raleway"/>
                <a:cs typeface="Raleway"/>
                <a:sym typeface="Raleway"/>
              </a:rPr>
              <a:t>F</a:t>
            </a:r>
            <a:r>
              <a:rPr lang="en-US" sz="2000">
                <a:solidFill>
                  <a:srgbClr val="111827"/>
                </a:solidFill>
                <a:latin typeface="Raleway"/>
                <a:ea typeface="Raleway"/>
                <a:cs typeface="Raleway"/>
                <a:sym typeface="Raleway"/>
              </a:rPr>
              <a:t>rontend Lead &amp; UI/UX Specialist</a:t>
            </a:r>
          </a:p>
        </p:txBody>
      </p:sp>
      <p:sp>
        <p:nvSpPr>
          <p:cNvPr name="TextBox 20" id="20"/>
          <p:cNvSpPr txBox="true"/>
          <p:nvPr/>
        </p:nvSpPr>
        <p:spPr>
          <a:xfrm rot="0">
            <a:off x="11888907" y="5200650"/>
            <a:ext cx="4341682" cy="35877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111827"/>
                </a:solidFill>
                <a:latin typeface="Raleway"/>
                <a:ea typeface="Raleway"/>
                <a:cs typeface="Raleway"/>
                <a:sym typeface="Raleway"/>
              </a:rPr>
              <a:t>B</a:t>
            </a:r>
            <a:r>
              <a:rPr lang="en-US" sz="2000">
                <a:solidFill>
                  <a:srgbClr val="111827"/>
                </a:solidFill>
                <a:latin typeface="Raleway"/>
                <a:ea typeface="Raleway"/>
                <a:cs typeface="Raleway"/>
                <a:sym typeface="Raleway"/>
              </a:rPr>
              <a:t>ackend Lead &amp; Architect</a:t>
            </a:r>
          </a:p>
        </p:txBody>
      </p:sp>
      <p:sp>
        <p:nvSpPr>
          <p:cNvPr name="TextBox 21" id="21"/>
          <p:cNvSpPr txBox="true"/>
          <p:nvPr/>
        </p:nvSpPr>
        <p:spPr>
          <a:xfrm rot="0">
            <a:off x="11888907" y="7558421"/>
            <a:ext cx="4341682" cy="606426"/>
          </a:xfrm>
          <a:prstGeom prst="rect">
            <a:avLst/>
          </a:prstGeom>
        </p:spPr>
        <p:txBody>
          <a:bodyPr anchor="t" rtlCol="false" tIns="0" lIns="0" bIns="0" rIns="0">
            <a:spAutoFit/>
          </a:bodyPr>
          <a:lstStyle/>
          <a:p>
            <a:pPr algn="l" marL="0" indent="0" lvl="0">
              <a:lnSpc>
                <a:spcPts val="4899"/>
              </a:lnSpc>
              <a:spcBef>
                <a:spcPct val="0"/>
              </a:spcBef>
            </a:pPr>
            <a:r>
              <a:rPr lang="en-US" b="true" sz="3499">
                <a:solidFill>
                  <a:srgbClr val="111827"/>
                </a:solidFill>
                <a:latin typeface="Raleway Bold"/>
                <a:ea typeface="Raleway Bold"/>
                <a:cs typeface="Raleway Bold"/>
                <a:sym typeface="Raleway Bold"/>
              </a:rPr>
              <a:t>Joseph Pineda</a:t>
            </a:r>
          </a:p>
        </p:txBody>
      </p:sp>
      <p:sp>
        <p:nvSpPr>
          <p:cNvPr name="TextBox 22" id="22"/>
          <p:cNvSpPr txBox="true"/>
          <p:nvPr/>
        </p:nvSpPr>
        <p:spPr>
          <a:xfrm rot="0">
            <a:off x="11888907" y="8107697"/>
            <a:ext cx="4341682" cy="35877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111827"/>
                </a:solidFill>
                <a:latin typeface="Raleway"/>
                <a:ea typeface="Raleway"/>
                <a:cs typeface="Raleway"/>
                <a:sym typeface="Raleway"/>
              </a:rPr>
              <a:t>F</a:t>
            </a:r>
            <a:r>
              <a:rPr lang="en-US" sz="2000">
                <a:solidFill>
                  <a:srgbClr val="111827"/>
                </a:solidFill>
                <a:latin typeface="Raleway"/>
                <a:ea typeface="Raleway"/>
                <a:cs typeface="Raleway"/>
                <a:sym typeface="Raleway"/>
              </a:rPr>
              <a:t>rontend Developer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4C32B4">
                <a:alpha val="80000"/>
              </a:srgbClr>
            </a:solidFill>
          </p:spPr>
        </p:sp>
        <p:sp>
          <p:nvSpPr>
            <p:cNvPr name="TextBox 5" id="5"/>
            <p:cNvSpPr txBox="true"/>
            <p:nvPr/>
          </p:nvSpPr>
          <p:spPr>
            <a:xfrm>
              <a:off x="0" y="-47625"/>
              <a:ext cx="4816593" cy="275695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5400000">
            <a:off x="-391982" y="3058336"/>
            <a:ext cx="3035036" cy="441324"/>
          </a:xfrm>
          <a:prstGeom prst="rect">
            <a:avLst/>
          </a:prstGeom>
        </p:spPr>
        <p:txBody>
          <a:bodyPr anchor="t" rtlCol="false" tIns="0" lIns="0" bIns="0" rIns="0">
            <a:spAutoFit/>
          </a:bodyPr>
          <a:lstStyle/>
          <a:p>
            <a:pPr algn="r">
              <a:lnSpc>
                <a:spcPts val="3500"/>
              </a:lnSpc>
              <a:spcBef>
                <a:spcPct val="0"/>
              </a:spcBef>
            </a:pPr>
            <a:r>
              <a:rPr lang="en-US" sz="2500" spc="297">
                <a:solidFill>
                  <a:srgbClr val="F1F5F9"/>
                </a:solidFill>
                <a:latin typeface="Raleway"/>
                <a:ea typeface="Raleway"/>
                <a:cs typeface="Raleway"/>
                <a:sym typeface="Raleway"/>
              </a:rPr>
              <a:t>OPTARYS</a:t>
            </a:r>
          </a:p>
        </p:txBody>
      </p:sp>
      <p:sp>
        <p:nvSpPr>
          <p:cNvPr name="AutoShape 7" id="7"/>
          <p:cNvSpPr/>
          <p:nvPr/>
        </p:nvSpPr>
        <p:spPr>
          <a:xfrm flipV="true">
            <a:off x="1158875" y="3740410"/>
            <a:ext cx="0" cy="5517890"/>
          </a:xfrm>
          <a:prstGeom prst="line">
            <a:avLst/>
          </a:prstGeom>
          <a:ln cap="flat" w="38100">
            <a:solidFill>
              <a:srgbClr val="F1F5F9"/>
            </a:solidFill>
            <a:prstDash val="solid"/>
            <a:headEnd type="none" len="sm" w="sm"/>
            <a:tailEnd type="none" len="sm" w="sm"/>
          </a:ln>
        </p:spPr>
      </p:sp>
      <p:sp>
        <p:nvSpPr>
          <p:cNvPr name="Freeform 8" id="8"/>
          <p:cNvSpPr/>
          <p:nvPr/>
        </p:nvSpPr>
        <p:spPr>
          <a:xfrm flipH="false" flipV="false" rot="0">
            <a:off x="2642109" y="2704551"/>
            <a:ext cx="13708378" cy="2438949"/>
          </a:xfrm>
          <a:custGeom>
            <a:avLst/>
            <a:gdLst/>
            <a:ahLst/>
            <a:cxnLst/>
            <a:rect r="r" b="b" t="t" l="l"/>
            <a:pathLst>
              <a:path h="2438949" w="13708378">
                <a:moveTo>
                  <a:pt x="0" y="0"/>
                </a:moveTo>
                <a:lnTo>
                  <a:pt x="13708378" y="0"/>
                </a:lnTo>
                <a:lnTo>
                  <a:pt x="13708378" y="2438949"/>
                </a:lnTo>
                <a:lnTo>
                  <a:pt x="0" y="2438949"/>
                </a:lnTo>
                <a:lnTo>
                  <a:pt x="0" y="0"/>
                </a:lnTo>
                <a:close/>
              </a:path>
            </a:pathLst>
          </a:custGeom>
          <a:blipFill>
            <a:blip r:embed="rId3"/>
            <a:stretch>
              <a:fillRect l="0" t="0" r="0" b="0"/>
            </a:stretch>
          </a:blipFill>
        </p:spPr>
      </p:sp>
      <p:sp>
        <p:nvSpPr>
          <p:cNvPr name="TextBox 9" id="9"/>
          <p:cNvSpPr txBox="true"/>
          <p:nvPr/>
        </p:nvSpPr>
        <p:spPr>
          <a:xfrm rot="0">
            <a:off x="5985763" y="5851887"/>
            <a:ext cx="12486729" cy="3548636"/>
          </a:xfrm>
          <a:prstGeom prst="rect">
            <a:avLst/>
          </a:prstGeom>
        </p:spPr>
        <p:txBody>
          <a:bodyPr anchor="t" rtlCol="false" tIns="0" lIns="0" bIns="0" rIns="0">
            <a:spAutoFit/>
          </a:bodyPr>
          <a:lstStyle/>
          <a:p>
            <a:pPr algn="l">
              <a:lnSpc>
                <a:spcPts val="13633"/>
              </a:lnSpc>
            </a:pPr>
            <a:r>
              <a:rPr lang="en-US" b="true" sz="13771">
                <a:solidFill>
                  <a:srgbClr val="F1F5F9"/>
                </a:solidFill>
                <a:latin typeface="Raleway Bold"/>
                <a:ea typeface="Raleway Bold"/>
                <a:cs typeface="Raleway Bold"/>
                <a:sym typeface="Raleway Bold"/>
              </a:rPr>
              <a:t>¡Muchas 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DAGy30Zz444</dc:identifier>
  <dcterms:modified xsi:type="dcterms:W3CDTF">2011-08-01T06:04:30Z</dcterms:modified>
  <cp:revision>1</cp:revision>
  <dc:title>Presentación Proyecto Profesional Violeta</dc:title>
</cp:coreProperties>
</file>